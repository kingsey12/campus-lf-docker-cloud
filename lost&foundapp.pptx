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20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070B151-16B6-4ACA-B191-5521B39FD8E5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29D40B3-CC05-48B0-8CCB-3B34B4C98F8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Push notifications </a:t>
          </a:r>
        </a:p>
      </dgm:t>
    </dgm:pt>
    <dgm:pt modelId="{AD261FA1-3126-465C-B679-0A563EFB7839}" type="parTrans" cxnId="{1405F486-BE43-4A96-B3B7-CAFC15458ACC}">
      <dgm:prSet/>
      <dgm:spPr/>
      <dgm:t>
        <a:bodyPr/>
        <a:lstStyle/>
        <a:p>
          <a:endParaRPr lang="en-US"/>
        </a:p>
      </dgm:t>
    </dgm:pt>
    <dgm:pt modelId="{93D6DCD1-3DE4-49FF-91FB-2F4354226FE8}" type="sibTrans" cxnId="{1405F486-BE43-4A96-B3B7-CAFC15458ACC}">
      <dgm:prSet/>
      <dgm:spPr/>
      <dgm:t>
        <a:bodyPr/>
        <a:lstStyle/>
        <a:p>
          <a:endParaRPr lang="en-US"/>
        </a:p>
      </dgm:t>
    </dgm:pt>
    <dgm:pt modelId="{30192A27-B3F7-438E-A84C-DBB5D07EA8A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Real-time chat </a:t>
          </a:r>
        </a:p>
      </dgm:t>
    </dgm:pt>
    <dgm:pt modelId="{E3075CBE-BD92-42D4-A4D8-942B76B7FE42}" type="parTrans" cxnId="{E60E6CA2-7D73-419E-B7CA-88652B3E7937}">
      <dgm:prSet/>
      <dgm:spPr/>
      <dgm:t>
        <a:bodyPr/>
        <a:lstStyle/>
        <a:p>
          <a:endParaRPr lang="en-US"/>
        </a:p>
      </dgm:t>
    </dgm:pt>
    <dgm:pt modelId="{3DF88F3C-D307-406F-BB98-6A09A6DEA0E8}" type="sibTrans" cxnId="{E60E6CA2-7D73-419E-B7CA-88652B3E7937}">
      <dgm:prSet/>
      <dgm:spPr/>
      <dgm:t>
        <a:bodyPr/>
        <a:lstStyle/>
        <a:p>
          <a:endParaRPr lang="en-US"/>
        </a:p>
      </dgm:t>
    </dgm:pt>
    <dgm:pt modelId="{55F0D18B-8A16-472B-8075-7C566622D8D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GPS integration </a:t>
          </a:r>
        </a:p>
      </dgm:t>
    </dgm:pt>
    <dgm:pt modelId="{A7DE6EB8-184E-4535-AB87-52731D3A792D}" type="parTrans" cxnId="{D7B79B82-80E8-41E2-858C-E0155057A085}">
      <dgm:prSet/>
      <dgm:spPr/>
      <dgm:t>
        <a:bodyPr/>
        <a:lstStyle/>
        <a:p>
          <a:endParaRPr lang="en-US"/>
        </a:p>
      </dgm:t>
    </dgm:pt>
    <dgm:pt modelId="{FA6E3D7E-EA27-4167-8896-E80D797DDD66}" type="sibTrans" cxnId="{D7B79B82-80E8-41E2-858C-E0155057A085}">
      <dgm:prSet/>
      <dgm:spPr/>
      <dgm:t>
        <a:bodyPr/>
        <a:lstStyle/>
        <a:p>
          <a:endParaRPr lang="en-US"/>
        </a:p>
      </dgm:t>
    </dgm:pt>
    <dgm:pt modelId="{50488262-49AA-4BE7-8ACC-981B898E829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AI image recognition </a:t>
          </a:r>
        </a:p>
      </dgm:t>
    </dgm:pt>
    <dgm:pt modelId="{D732305C-03A1-41DD-BDE1-CB0C2A641F50}" type="parTrans" cxnId="{A03780B4-F2B6-4099-BCE5-A1D23AC413FE}">
      <dgm:prSet/>
      <dgm:spPr/>
      <dgm:t>
        <a:bodyPr/>
        <a:lstStyle/>
        <a:p>
          <a:endParaRPr lang="en-US"/>
        </a:p>
      </dgm:t>
    </dgm:pt>
    <dgm:pt modelId="{3AFB9EDC-5C96-4DDB-B6A0-4C4B0D47B29C}" type="sibTrans" cxnId="{A03780B4-F2B6-4099-BCE5-A1D23AC413FE}">
      <dgm:prSet/>
      <dgm:spPr/>
      <dgm:t>
        <a:bodyPr/>
        <a:lstStyle/>
        <a:p>
          <a:endParaRPr lang="en-US"/>
        </a:p>
      </dgm:t>
    </dgm:pt>
    <dgm:pt modelId="{C5D3D46B-54D4-4D4F-8C61-A3829261E7C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Student authentication </a:t>
          </a:r>
        </a:p>
      </dgm:t>
    </dgm:pt>
    <dgm:pt modelId="{C92FE279-1498-47BC-A5E2-A065AA35A730}" type="parTrans" cxnId="{2D5309FB-35B7-43C7-8655-6717FFDC1067}">
      <dgm:prSet/>
      <dgm:spPr/>
      <dgm:t>
        <a:bodyPr/>
        <a:lstStyle/>
        <a:p>
          <a:endParaRPr lang="en-US"/>
        </a:p>
      </dgm:t>
    </dgm:pt>
    <dgm:pt modelId="{D3BAFD54-4C18-4BB2-A1CC-44AA8B7B2C09}" type="sibTrans" cxnId="{2D5309FB-35B7-43C7-8655-6717FFDC1067}">
      <dgm:prSet/>
      <dgm:spPr/>
      <dgm:t>
        <a:bodyPr/>
        <a:lstStyle/>
        <a:p>
          <a:endParaRPr lang="en-US"/>
        </a:p>
      </dgm:t>
    </dgm:pt>
    <dgm:pt modelId="{DB46D950-A764-43F1-9E44-5A31C6096765}" type="pres">
      <dgm:prSet presAssocID="{9070B151-16B6-4ACA-B191-5521B39FD8E5}" presName="root" presStyleCnt="0">
        <dgm:presLayoutVars>
          <dgm:dir/>
          <dgm:resizeHandles val="exact"/>
        </dgm:presLayoutVars>
      </dgm:prSet>
      <dgm:spPr/>
    </dgm:pt>
    <dgm:pt modelId="{E8254DBA-1990-4326-B664-C1BEB167040B}" type="pres">
      <dgm:prSet presAssocID="{929D40B3-CC05-48B0-8CCB-3B34B4C98F8B}" presName="compNode" presStyleCnt="0"/>
      <dgm:spPr/>
    </dgm:pt>
    <dgm:pt modelId="{F9B19F9B-1A51-4307-88EC-E739999E928E}" type="pres">
      <dgm:prSet presAssocID="{929D40B3-CC05-48B0-8CCB-3B34B4C98F8B}" presName="iconBgRect" presStyleLbl="bgShp" presStyleIdx="0" presStyleCnt="5"/>
      <dgm:spPr/>
    </dgm:pt>
    <dgm:pt modelId="{D4133E8C-9C21-4546-9208-012B3AA39E89}" type="pres">
      <dgm:prSet presAssocID="{929D40B3-CC05-48B0-8CCB-3B34B4C98F8B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nvelope"/>
        </a:ext>
      </dgm:extLst>
    </dgm:pt>
    <dgm:pt modelId="{945E5E9A-05E2-439F-84C5-20E4AD75E670}" type="pres">
      <dgm:prSet presAssocID="{929D40B3-CC05-48B0-8CCB-3B34B4C98F8B}" presName="spaceRect" presStyleCnt="0"/>
      <dgm:spPr/>
    </dgm:pt>
    <dgm:pt modelId="{1376BDF8-3965-46BE-B566-BC89AA56190B}" type="pres">
      <dgm:prSet presAssocID="{929D40B3-CC05-48B0-8CCB-3B34B4C98F8B}" presName="textRect" presStyleLbl="revTx" presStyleIdx="0" presStyleCnt="5">
        <dgm:presLayoutVars>
          <dgm:chMax val="1"/>
          <dgm:chPref val="1"/>
        </dgm:presLayoutVars>
      </dgm:prSet>
      <dgm:spPr/>
    </dgm:pt>
    <dgm:pt modelId="{759D10C0-8F9D-49CE-B1FA-0307662ED2B5}" type="pres">
      <dgm:prSet presAssocID="{93D6DCD1-3DE4-49FF-91FB-2F4354226FE8}" presName="sibTrans" presStyleCnt="0"/>
      <dgm:spPr/>
    </dgm:pt>
    <dgm:pt modelId="{FA27168F-A769-410F-A0B8-89E7DCB002F1}" type="pres">
      <dgm:prSet presAssocID="{30192A27-B3F7-438E-A84C-DBB5D07EA8A5}" presName="compNode" presStyleCnt="0"/>
      <dgm:spPr/>
    </dgm:pt>
    <dgm:pt modelId="{9B9ABEB4-ECDA-4249-A103-32649E348444}" type="pres">
      <dgm:prSet presAssocID="{30192A27-B3F7-438E-A84C-DBB5D07EA8A5}" presName="iconBgRect" presStyleLbl="bgShp" presStyleIdx="1" presStyleCnt="5"/>
      <dgm:spPr/>
    </dgm:pt>
    <dgm:pt modelId="{14A48F08-C3D8-4B18-BFB1-E8CFF679560D}" type="pres">
      <dgm:prSet presAssocID="{30192A27-B3F7-438E-A84C-DBB5D07EA8A5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peech"/>
        </a:ext>
      </dgm:extLst>
    </dgm:pt>
    <dgm:pt modelId="{B99D7A28-5A15-4384-8323-BD865AD87108}" type="pres">
      <dgm:prSet presAssocID="{30192A27-B3F7-438E-A84C-DBB5D07EA8A5}" presName="spaceRect" presStyleCnt="0"/>
      <dgm:spPr/>
    </dgm:pt>
    <dgm:pt modelId="{D9F939FB-07F6-4EFB-88C7-F7E63B239083}" type="pres">
      <dgm:prSet presAssocID="{30192A27-B3F7-438E-A84C-DBB5D07EA8A5}" presName="textRect" presStyleLbl="revTx" presStyleIdx="1" presStyleCnt="5">
        <dgm:presLayoutVars>
          <dgm:chMax val="1"/>
          <dgm:chPref val="1"/>
        </dgm:presLayoutVars>
      </dgm:prSet>
      <dgm:spPr/>
    </dgm:pt>
    <dgm:pt modelId="{510033E6-92C3-45D1-AAE4-415B470ACD54}" type="pres">
      <dgm:prSet presAssocID="{3DF88F3C-D307-406F-BB98-6A09A6DEA0E8}" presName="sibTrans" presStyleCnt="0"/>
      <dgm:spPr/>
    </dgm:pt>
    <dgm:pt modelId="{797D7510-3D97-4058-96E3-D1E124DB9EA5}" type="pres">
      <dgm:prSet presAssocID="{55F0D18B-8A16-472B-8075-7C566622D8D1}" presName="compNode" presStyleCnt="0"/>
      <dgm:spPr/>
    </dgm:pt>
    <dgm:pt modelId="{03543EED-930C-4B81-BB6C-A84C40EFAED9}" type="pres">
      <dgm:prSet presAssocID="{55F0D18B-8A16-472B-8075-7C566622D8D1}" presName="iconBgRect" presStyleLbl="bgShp" presStyleIdx="2" presStyleCnt="5"/>
      <dgm:spPr/>
    </dgm:pt>
    <dgm:pt modelId="{DC2FDCCC-67BF-4BE1-A860-FB70C5C5131E}" type="pres">
      <dgm:prSet presAssocID="{55F0D18B-8A16-472B-8075-7C566622D8D1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2D09B1FE-19A3-452D-BF77-172BC0BD7291}" type="pres">
      <dgm:prSet presAssocID="{55F0D18B-8A16-472B-8075-7C566622D8D1}" presName="spaceRect" presStyleCnt="0"/>
      <dgm:spPr/>
    </dgm:pt>
    <dgm:pt modelId="{95C24ACA-3B86-4FF5-807D-6D66C40CEAC0}" type="pres">
      <dgm:prSet presAssocID="{55F0D18B-8A16-472B-8075-7C566622D8D1}" presName="textRect" presStyleLbl="revTx" presStyleIdx="2" presStyleCnt="5">
        <dgm:presLayoutVars>
          <dgm:chMax val="1"/>
          <dgm:chPref val="1"/>
        </dgm:presLayoutVars>
      </dgm:prSet>
      <dgm:spPr/>
    </dgm:pt>
    <dgm:pt modelId="{DADB04FE-2B45-41D4-A3EE-6ED1EDA6C0F7}" type="pres">
      <dgm:prSet presAssocID="{FA6E3D7E-EA27-4167-8896-E80D797DDD66}" presName="sibTrans" presStyleCnt="0"/>
      <dgm:spPr/>
    </dgm:pt>
    <dgm:pt modelId="{EE4180EE-211C-465A-AA3E-1B007EBF8189}" type="pres">
      <dgm:prSet presAssocID="{50488262-49AA-4BE7-8ACC-981B898E8297}" presName="compNode" presStyleCnt="0"/>
      <dgm:spPr/>
    </dgm:pt>
    <dgm:pt modelId="{4110FE52-3245-47A0-A0B2-6C5DC2020412}" type="pres">
      <dgm:prSet presAssocID="{50488262-49AA-4BE7-8ACC-981B898E8297}" presName="iconBgRect" presStyleLbl="bgShp" presStyleIdx="3" presStyleCnt="5"/>
      <dgm:spPr/>
    </dgm:pt>
    <dgm:pt modelId="{EFC11742-05E1-4976-8CA2-DDF3AF54A343}" type="pres">
      <dgm:prSet presAssocID="{50488262-49AA-4BE7-8ACC-981B898E8297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mera"/>
        </a:ext>
      </dgm:extLst>
    </dgm:pt>
    <dgm:pt modelId="{95FAABD5-B1F3-4CA0-9C4C-B8FA4B87260F}" type="pres">
      <dgm:prSet presAssocID="{50488262-49AA-4BE7-8ACC-981B898E8297}" presName="spaceRect" presStyleCnt="0"/>
      <dgm:spPr/>
    </dgm:pt>
    <dgm:pt modelId="{9FC3EB7D-E0C6-45DC-B657-125166F9DBCF}" type="pres">
      <dgm:prSet presAssocID="{50488262-49AA-4BE7-8ACC-981B898E8297}" presName="textRect" presStyleLbl="revTx" presStyleIdx="3" presStyleCnt="5">
        <dgm:presLayoutVars>
          <dgm:chMax val="1"/>
          <dgm:chPref val="1"/>
        </dgm:presLayoutVars>
      </dgm:prSet>
      <dgm:spPr/>
    </dgm:pt>
    <dgm:pt modelId="{5AEF1DFF-BCA3-4754-9A34-097B828997F0}" type="pres">
      <dgm:prSet presAssocID="{3AFB9EDC-5C96-4DDB-B6A0-4C4B0D47B29C}" presName="sibTrans" presStyleCnt="0"/>
      <dgm:spPr/>
    </dgm:pt>
    <dgm:pt modelId="{F2E77428-F31A-4748-9256-97BB2531D0FF}" type="pres">
      <dgm:prSet presAssocID="{C5D3D46B-54D4-4D4F-8C61-A3829261E7CA}" presName="compNode" presStyleCnt="0"/>
      <dgm:spPr/>
    </dgm:pt>
    <dgm:pt modelId="{AE8FE58A-427C-45C7-9109-EDCD097C7003}" type="pres">
      <dgm:prSet presAssocID="{C5D3D46B-54D4-4D4F-8C61-A3829261E7CA}" presName="iconBgRect" presStyleLbl="bgShp" presStyleIdx="4" presStyleCnt="5"/>
      <dgm:spPr/>
    </dgm:pt>
    <dgm:pt modelId="{6607B3F3-BC9A-4E44-8E37-2D7D1881A567}" type="pres">
      <dgm:prSet presAssocID="{C5D3D46B-54D4-4D4F-8C61-A3829261E7CA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3782F141-5772-44C2-ADC8-96E6C405790C}" type="pres">
      <dgm:prSet presAssocID="{C5D3D46B-54D4-4D4F-8C61-A3829261E7CA}" presName="spaceRect" presStyleCnt="0"/>
      <dgm:spPr/>
    </dgm:pt>
    <dgm:pt modelId="{C9479222-D84C-4BE2-A2A8-6B8A088FC475}" type="pres">
      <dgm:prSet presAssocID="{C5D3D46B-54D4-4D4F-8C61-A3829261E7CA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88A63A41-D0C2-4F30-8478-FB207EDAFC11}" type="presOf" srcId="{50488262-49AA-4BE7-8ACC-981B898E8297}" destId="{9FC3EB7D-E0C6-45DC-B657-125166F9DBCF}" srcOrd="0" destOrd="0" presId="urn:microsoft.com/office/officeart/2018/5/layout/IconCircleLabelList"/>
    <dgm:cxn modelId="{66713647-8724-4737-A361-E56C3A109CEC}" type="presOf" srcId="{C5D3D46B-54D4-4D4F-8C61-A3829261E7CA}" destId="{C9479222-D84C-4BE2-A2A8-6B8A088FC475}" srcOrd="0" destOrd="0" presId="urn:microsoft.com/office/officeart/2018/5/layout/IconCircleLabelList"/>
    <dgm:cxn modelId="{54E36B4C-A003-4A7A-A613-6B0224BD9201}" type="presOf" srcId="{9070B151-16B6-4ACA-B191-5521B39FD8E5}" destId="{DB46D950-A764-43F1-9E44-5A31C6096765}" srcOrd="0" destOrd="0" presId="urn:microsoft.com/office/officeart/2018/5/layout/IconCircleLabelList"/>
    <dgm:cxn modelId="{F5784782-D3C6-4062-8284-2821BA585869}" type="presOf" srcId="{929D40B3-CC05-48B0-8CCB-3B34B4C98F8B}" destId="{1376BDF8-3965-46BE-B566-BC89AA56190B}" srcOrd="0" destOrd="0" presId="urn:microsoft.com/office/officeart/2018/5/layout/IconCircleLabelList"/>
    <dgm:cxn modelId="{D7B79B82-80E8-41E2-858C-E0155057A085}" srcId="{9070B151-16B6-4ACA-B191-5521B39FD8E5}" destId="{55F0D18B-8A16-472B-8075-7C566622D8D1}" srcOrd="2" destOrd="0" parTransId="{A7DE6EB8-184E-4535-AB87-52731D3A792D}" sibTransId="{FA6E3D7E-EA27-4167-8896-E80D797DDD66}"/>
    <dgm:cxn modelId="{1405F486-BE43-4A96-B3B7-CAFC15458ACC}" srcId="{9070B151-16B6-4ACA-B191-5521B39FD8E5}" destId="{929D40B3-CC05-48B0-8CCB-3B34B4C98F8B}" srcOrd="0" destOrd="0" parTransId="{AD261FA1-3126-465C-B679-0A563EFB7839}" sibTransId="{93D6DCD1-3DE4-49FF-91FB-2F4354226FE8}"/>
    <dgm:cxn modelId="{E60E6CA2-7D73-419E-B7CA-88652B3E7937}" srcId="{9070B151-16B6-4ACA-B191-5521B39FD8E5}" destId="{30192A27-B3F7-438E-A84C-DBB5D07EA8A5}" srcOrd="1" destOrd="0" parTransId="{E3075CBE-BD92-42D4-A4D8-942B76B7FE42}" sibTransId="{3DF88F3C-D307-406F-BB98-6A09A6DEA0E8}"/>
    <dgm:cxn modelId="{A03780B4-F2B6-4099-BCE5-A1D23AC413FE}" srcId="{9070B151-16B6-4ACA-B191-5521B39FD8E5}" destId="{50488262-49AA-4BE7-8ACC-981B898E8297}" srcOrd="3" destOrd="0" parTransId="{D732305C-03A1-41DD-BDE1-CB0C2A641F50}" sibTransId="{3AFB9EDC-5C96-4DDB-B6A0-4C4B0D47B29C}"/>
    <dgm:cxn modelId="{A0783BF2-8E98-420F-8147-0AAF8611A92C}" type="presOf" srcId="{55F0D18B-8A16-472B-8075-7C566622D8D1}" destId="{95C24ACA-3B86-4FF5-807D-6D66C40CEAC0}" srcOrd="0" destOrd="0" presId="urn:microsoft.com/office/officeart/2018/5/layout/IconCircleLabelList"/>
    <dgm:cxn modelId="{505080F4-5B24-4696-BAB7-2B1AF0FE944B}" type="presOf" srcId="{30192A27-B3F7-438E-A84C-DBB5D07EA8A5}" destId="{D9F939FB-07F6-4EFB-88C7-F7E63B239083}" srcOrd="0" destOrd="0" presId="urn:microsoft.com/office/officeart/2018/5/layout/IconCircleLabelList"/>
    <dgm:cxn modelId="{2D5309FB-35B7-43C7-8655-6717FFDC1067}" srcId="{9070B151-16B6-4ACA-B191-5521B39FD8E5}" destId="{C5D3D46B-54D4-4D4F-8C61-A3829261E7CA}" srcOrd="4" destOrd="0" parTransId="{C92FE279-1498-47BC-A5E2-A065AA35A730}" sibTransId="{D3BAFD54-4C18-4BB2-A1CC-44AA8B7B2C09}"/>
    <dgm:cxn modelId="{FAF7B2B4-BB8C-4C0B-AE3C-8A2EF1F7FA9A}" type="presParOf" srcId="{DB46D950-A764-43F1-9E44-5A31C6096765}" destId="{E8254DBA-1990-4326-B664-C1BEB167040B}" srcOrd="0" destOrd="0" presId="urn:microsoft.com/office/officeart/2018/5/layout/IconCircleLabelList"/>
    <dgm:cxn modelId="{9B4A721C-4E0D-4F88-AEE3-5B08760DF1FC}" type="presParOf" srcId="{E8254DBA-1990-4326-B664-C1BEB167040B}" destId="{F9B19F9B-1A51-4307-88EC-E739999E928E}" srcOrd="0" destOrd="0" presId="urn:microsoft.com/office/officeart/2018/5/layout/IconCircleLabelList"/>
    <dgm:cxn modelId="{BF3F045F-29E7-447A-965A-785786791AEE}" type="presParOf" srcId="{E8254DBA-1990-4326-B664-C1BEB167040B}" destId="{D4133E8C-9C21-4546-9208-012B3AA39E89}" srcOrd="1" destOrd="0" presId="urn:microsoft.com/office/officeart/2018/5/layout/IconCircleLabelList"/>
    <dgm:cxn modelId="{4FE57C56-E5BF-4DFC-BFC7-8A769DB5AB95}" type="presParOf" srcId="{E8254DBA-1990-4326-B664-C1BEB167040B}" destId="{945E5E9A-05E2-439F-84C5-20E4AD75E670}" srcOrd="2" destOrd="0" presId="urn:microsoft.com/office/officeart/2018/5/layout/IconCircleLabelList"/>
    <dgm:cxn modelId="{E919C4DD-9147-4594-A3FA-18B0523C09F7}" type="presParOf" srcId="{E8254DBA-1990-4326-B664-C1BEB167040B}" destId="{1376BDF8-3965-46BE-B566-BC89AA56190B}" srcOrd="3" destOrd="0" presId="urn:microsoft.com/office/officeart/2018/5/layout/IconCircleLabelList"/>
    <dgm:cxn modelId="{7D31B32E-F0CF-4E97-A303-99F0136A9AE1}" type="presParOf" srcId="{DB46D950-A764-43F1-9E44-5A31C6096765}" destId="{759D10C0-8F9D-49CE-B1FA-0307662ED2B5}" srcOrd="1" destOrd="0" presId="urn:microsoft.com/office/officeart/2018/5/layout/IconCircleLabelList"/>
    <dgm:cxn modelId="{313BD054-DD04-4734-996E-8382BA0031B4}" type="presParOf" srcId="{DB46D950-A764-43F1-9E44-5A31C6096765}" destId="{FA27168F-A769-410F-A0B8-89E7DCB002F1}" srcOrd="2" destOrd="0" presId="urn:microsoft.com/office/officeart/2018/5/layout/IconCircleLabelList"/>
    <dgm:cxn modelId="{E92A55A6-6934-44DD-A17F-1AAD166C5A46}" type="presParOf" srcId="{FA27168F-A769-410F-A0B8-89E7DCB002F1}" destId="{9B9ABEB4-ECDA-4249-A103-32649E348444}" srcOrd="0" destOrd="0" presId="urn:microsoft.com/office/officeart/2018/5/layout/IconCircleLabelList"/>
    <dgm:cxn modelId="{56D47223-7B6A-424C-8038-C31EECF6C8F1}" type="presParOf" srcId="{FA27168F-A769-410F-A0B8-89E7DCB002F1}" destId="{14A48F08-C3D8-4B18-BFB1-E8CFF679560D}" srcOrd="1" destOrd="0" presId="urn:microsoft.com/office/officeart/2018/5/layout/IconCircleLabelList"/>
    <dgm:cxn modelId="{F03982D3-F92F-4AEA-812F-08B85C5FBE02}" type="presParOf" srcId="{FA27168F-A769-410F-A0B8-89E7DCB002F1}" destId="{B99D7A28-5A15-4384-8323-BD865AD87108}" srcOrd="2" destOrd="0" presId="urn:microsoft.com/office/officeart/2018/5/layout/IconCircleLabelList"/>
    <dgm:cxn modelId="{807FEF1E-D9C8-4E8C-A1BA-95ABA4759576}" type="presParOf" srcId="{FA27168F-A769-410F-A0B8-89E7DCB002F1}" destId="{D9F939FB-07F6-4EFB-88C7-F7E63B239083}" srcOrd="3" destOrd="0" presId="urn:microsoft.com/office/officeart/2018/5/layout/IconCircleLabelList"/>
    <dgm:cxn modelId="{C0772237-86C3-4479-BE19-882E4331A509}" type="presParOf" srcId="{DB46D950-A764-43F1-9E44-5A31C6096765}" destId="{510033E6-92C3-45D1-AAE4-415B470ACD54}" srcOrd="3" destOrd="0" presId="urn:microsoft.com/office/officeart/2018/5/layout/IconCircleLabelList"/>
    <dgm:cxn modelId="{B31B96AD-6DB3-4054-BB70-9DEEF310E557}" type="presParOf" srcId="{DB46D950-A764-43F1-9E44-5A31C6096765}" destId="{797D7510-3D97-4058-96E3-D1E124DB9EA5}" srcOrd="4" destOrd="0" presId="urn:microsoft.com/office/officeart/2018/5/layout/IconCircleLabelList"/>
    <dgm:cxn modelId="{D2F166C8-E2BF-44CF-964C-37CA27907113}" type="presParOf" srcId="{797D7510-3D97-4058-96E3-D1E124DB9EA5}" destId="{03543EED-930C-4B81-BB6C-A84C40EFAED9}" srcOrd="0" destOrd="0" presId="urn:microsoft.com/office/officeart/2018/5/layout/IconCircleLabelList"/>
    <dgm:cxn modelId="{F0EAF1D6-67D5-4789-924A-C9167FB511FF}" type="presParOf" srcId="{797D7510-3D97-4058-96E3-D1E124DB9EA5}" destId="{DC2FDCCC-67BF-4BE1-A860-FB70C5C5131E}" srcOrd="1" destOrd="0" presId="urn:microsoft.com/office/officeart/2018/5/layout/IconCircleLabelList"/>
    <dgm:cxn modelId="{2B083A41-FF9E-4C38-8048-954933085006}" type="presParOf" srcId="{797D7510-3D97-4058-96E3-D1E124DB9EA5}" destId="{2D09B1FE-19A3-452D-BF77-172BC0BD7291}" srcOrd="2" destOrd="0" presId="urn:microsoft.com/office/officeart/2018/5/layout/IconCircleLabelList"/>
    <dgm:cxn modelId="{F29DA6F8-ACA2-4DDF-BEA6-A992B16C1726}" type="presParOf" srcId="{797D7510-3D97-4058-96E3-D1E124DB9EA5}" destId="{95C24ACA-3B86-4FF5-807D-6D66C40CEAC0}" srcOrd="3" destOrd="0" presId="urn:microsoft.com/office/officeart/2018/5/layout/IconCircleLabelList"/>
    <dgm:cxn modelId="{9BB11AC4-159C-46DE-827B-03F6EE3B4B4C}" type="presParOf" srcId="{DB46D950-A764-43F1-9E44-5A31C6096765}" destId="{DADB04FE-2B45-41D4-A3EE-6ED1EDA6C0F7}" srcOrd="5" destOrd="0" presId="urn:microsoft.com/office/officeart/2018/5/layout/IconCircleLabelList"/>
    <dgm:cxn modelId="{2A8EB301-7B04-4900-A7CD-4F600CCFA50E}" type="presParOf" srcId="{DB46D950-A764-43F1-9E44-5A31C6096765}" destId="{EE4180EE-211C-465A-AA3E-1B007EBF8189}" srcOrd="6" destOrd="0" presId="urn:microsoft.com/office/officeart/2018/5/layout/IconCircleLabelList"/>
    <dgm:cxn modelId="{503C3EC4-F415-4F96-BAC7-A4B7AD576E25}" type="presParOf" srcId="{EE4180EE-211C-465A-AA3E-1B007EBF8189}" destId="{4110FE52-3245-47A0-A0B2-6C5DC2020412}" srcOrd="0" destOrd="0" presId="urn:microsoft.com/office/officeart/2018/5/layout/IconCircleLabelList"/>
    <dgm:cxn modelId="{F88DFEB4-4B3B-4E83-B829-CAA6C1F916CA}" type="presParOf" srcId="{EE4180EE-211C-465A-AA3E-1B007EBF8189}" destId="{EFC11742-05E1-4976-8CA2-DDF3AF54A343}" srcOrd="1" destOrd="0" presId="urn:microsoft.com/office/officeart/2018/5/layout/IconCircleLabelList"/>
    <dgm:cxn modelId="{35708003-9FFF-4210-B975-C06B829AA7F7}" type="presParOf" srcId="{EE4180EE-211C-465A-AA3E-1B007EBF8189}" destId="{95FAABD5-B1F3-4CA0-9C4C-B8FA4B87260F}" srcOrd="2" destOrd="0" presId="urn:microsoft.com/office/officeart/2018/5/layout/IconCircleLabelList"/>
    <dgm:cxn modelId="{D350DAA5-DFF1-4E6E-8F3E-3CCD3B04C9D8}" type="presParOf" srcId="{EE4180EE-211C-465A-AA3E-1B007EBF8189}" destId="{9FC3EB7D-E0C6-45DC-B657-125166F9DBCF}" srcOrd="3" destOrd="0" presId="urn:microsoft.com/office/officeart/2018/5/layout/IconCircleLabelList"/>
    <dgm:cxn modelId="{44A05C55-E9FB-4E99-AAB1-44BA64B59968}" type="presParOf" srcId="{DB46D950-A764-43F1-9E44-5A31C6096765}" destId="{5AEF1DFF-BCA3-4754-9A34-097B828997F0}" srcOrd="7" destOrd="0" presId="urn:microsoft.com/office/officeart/2018/5/layout/IconCircleLabelList"/>
    <dgm:cxn modelId="{8BC7D709-0346-4752-BA6F-855BD191EAE5}" type="presParOf" srcId="{DB46D950-A764-43F1-9E44-5A31C6096765}" destId="{F2E77428-F31A-4748-9256-97BB2531D0FF}" srcOrd="8" destOrd="0" presId="urn:microsoft.com/office/officeart/2018/5/layout/IconCircleLabelList"/>
    <dgm:cxn modelId="{037E8E0A-CF09-4D9B-BC73-8C68A44A1702}" type="presParOf" srcId="{F2E77428-F31A-4748-9256-97BB2531D0FF}" destId="{AE8FE58A-427C-45C7-9109-EDCD097C7003}" srcOrd="0" destOrd="0" presId="urn:microsoft.com/office/officeart/2018/5/layout/IconCircleLabelList"/>
    <dgm:cxn modelId="{FE1E3F09-1D94-42DA-A33E-091148CC94B5}" type="presParOf" srcId="{F2E77428-F31A-4748-9256-97BB2531D0FF}" destId="{6607B3F3-BC9A-4E44-8E37-2D7D1881A567}" srcOrd="1" destOrd="0" presId="urn:microsoft.com/office/officeart/2018/5/layout/IconCircleLabelList"/>
    <dgm:cxn modelId="{E6A166ED-7D4C-4A59-80AE-E66EFE5DD8D5}" type="presParOf" srcId="{F2E77428-F31A-4748-9256-97BB2531D0FF}" destId="{3782F141-5772-44C2-ADC8-96E6C405790C}" srcOrd="2" destOrd="0" presId="urn:microsoft.com/office/officeart/2018/5/layout/IconCircleLabelList"/>
    <dgm:cxn modelId="{EA112D8B-D330-45E0-91A0-35F9D203161B}" type="presParOf" srcId="{F2E77428-F31A-4748-9256-97BB2531D0FF}" destId="{C9479222-D84C-4BE2-A2A8-6B8A088FC47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B19F9B-1A51-4307-88EC-E739999E928E}">
      <dsp:nvSpPr>
        <dsp:cNvPr id="0" name=""/>
        <dsp:cNvSpPr/>
      </dsp:nvSpPr>
      <dsp:spPr>
        <a:xfrm>
          <a:off x="666463" y="703079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133E8C-9C21-4546-9208-012B3AA39E89}">
      <dsp:nvSpPr>
        <dsp:cNvPr id="0" name=""/>
        <dsp:cNvSpPr/>
      </dsp:nvSpPr>
      <dsp:spPr>
        <a:xfrm>
          <a:off x="900463" y="937080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76BDF8-3965-46BE-B566-BC89AA56190B}">
      <dsp:nvSpPr>
        <dsp:cNvPr id="0" name=""/>
        <dsp:cNvSpPr/>
      </dsp:nvSpPr>
      <dsp:spPr>
        <a:xfrm>
          <a:off x="315463" y="214308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Push notifications </a:t>
          </a:r>
        </a:p>
      </dsp:txBody>
      <dsp:txXfrm>
        <a:off x="315463" y="2143080"/>
        <a:ext cx="1800000" cy="720000"/>
      </dsp:txXfrm>
    </dsp:sp>
    <dsp:sp modelId="{9B9ABEB4-ECDA-4249-A103-32649E348444}">
      <dsp:nvSpPr>
        <dsp:cNvPr id="0" name=""/>
        <dsp:cNvSpPr/>
      </dsp:nvSpPr>
      <dsp:spPr>
        <a:xfrm>
          <a:off x="2781463" y="703079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A48F08-C3D8-4B18-BFB1-E8CFF679560D}">
      <dsp:nvSpPr>
        <dsp:cNvPr id="0" name=""/>
        <dsp:cNvSpPr/>
      </dsp:nvSpPr>
      <dsp:spPr>
        <a:xfrm>
          <a:off x="3015463" y="937080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F939FB-07F6-4EFB-88C7-F7E63B239083}">
      <dsp:nvSpPr>
        <dsp:cNvPr id="0" name=""/>
        <dsp:cNvSpPr/>
      </dsp:nvSpPr>
      <dsp:spPr>
        <a:xfrm>
          <a:off x="2430463" y="214308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Real-time chat </a:t>
          </a:r>
        </a:p>
      </dsp:txBody>
      <dsp:txXfrm>
        <a:off x="2430463" y="2143080"/>
        <a:ext cx="1800000" cy="720000"/>
      </dsp:txXfrm>
    </dsp:sp>
    <dsp:sp modelId="{03543EED-930C-4B81-BB6C-A84C40EFAED9}">
      <dsp:nvSpPr>
        <dsp:cNvPr id="0" name=""/>
        <dsp:cNvSpPr/>
      </dsp:nvSpPr>
      <dsp:spPr>
        <a:xfrm>
          <a:off x="4896464" y="703079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2FDCCC-67BF-4BE1-A860-FB70C5C5131E}">
      <dsp:nvSpPr>
        <dsp:cNvPr id="0" name=""/>
        <dsp:cNvSpPr/>
      </dsp:nvSpPr>
      <dsp:spPr>
        <a:xfrm>
          <a:off x="5130464" y="937080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C24ACA-3B86-4FF5-807D-6D66C40CEAC0}">
      <dsp:nvSpPr>
        <dsp:cNvPr id="0" name=""/>
        <dsp:cNvSpPr/>
      </dsp:nvSpPr>
      <dsp:spPr>
        <a:xfrm>
          <a:off x="4545464" y="214308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GPS integration </a:t>
          </a:r>
        </a:p>
      </dsp:txBody>
      <dsp:txXfrm>
        <a:off x="4545464" y="2143080"/>
        <a:ext cx="1800000" cy="720000"/>
      </dsp:txXfrm>
    </dsp:sp>
    <dsp:sp modelId="{4110FE52-3245-47A0-A0B2-6C5DC2020412}">
      <dsp:nvSpPr>
        <dsp:cNvPr id="0" name=""/>
        <dsp:cNvSpPr/>
      </dsp:nvSpPr>
      <dsp:spPr>
        <a:xfrm>
          <a:off x="7011464" y="703079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C11742-05E1-4976-8CA2-DDF3AF54A343}">
      <dsp:nvSpPr>
        <dsp:cNvPr id="0" name=""/>
        <dsp:cNvSpPr/>
      </dsp:nvSpPr>
      <dsp:spPr>
        <a:xfrm>
          <a:off x="7245464" y="937080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C3EB7D-E0C6-45DC-B657-125166F9DBCF}">
      <dsp:nvSpPr>
        <dsp:cNvPr id="0" name=""/>
        <dsp:cNvSpPr/>
      </dsp:nvSpPr>
      <dsp:spPr>
        <a:xfrm>
          <a:off x="6660464" y="214308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AI image recognition </a:t>
          </a:r>
        </a:p>
      </dsp:txBody>
      <dsp:txXfrm>
        <a:off x="6660464" y="2143080"/>
        <a:ext cx="1800000" cy="720000"/>
      </dsp:txXfrm>
    </dsp:sp>
    <dsp:sp modelId="{AE8FE58A-427C-45C7-9109-EDCD097C7003}">
      <dsp:nvSpPr>
        <dsp:cNvPr id="0" name=""/>
        <dsp:cNvSpPr/>
      </dsp:nvSpPr>
      <dsp:spPr>
        <a:xfrm>
          <a:off x="9126464" y="703079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07B3F3-BC9A-4E44-8E37-2D7D1881A567}">
      <dsp:nvSpPr>
        <dsp:cNvPr id="0" name=""/>
        <dsp:cNvSpPr/>
      </dsp:nvSpPr>
      <dsp:spPr>
        <a:xfrm>
          <a:off x="9360464" y="937080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479222-D84C-4BE2-A2A8-6B8A088FC475}">
      <dsp:nvSpPr>
        <dsp:cNvPr id="0" name=""/>
        <dsp:cNvSpPr/>
      </dsp:nvSpPr>
      <dsp:spPr>
        <a:xfrm>
          <a:off x="8775464" y="214308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Student authentication </a:t>
          </a:r>
        </a:p>
      </dsp:txBody>
      <dsp:txXfrm>
        <a:off x="8775464" y="2143080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27F8AE-DA7B-42E1-A97C-223E1F6C56BD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B9360A-1E84-4A80-841F-6A31A60ABB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056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B9360A-1E84-4A80-841F-6A31A60ABB8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7930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758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203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55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897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612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568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001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057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698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86735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83376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4832669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80761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30607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54236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8061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842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7DA38F49-B3E2-4BF0-BEC7-C30D34ABBB8D}" type="datetime1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8555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  <p:sldLayoutId id="2147483733" r:id="rId15"/>
    <p:sldLayoutId id="2147483734" r:id="rId16"/>
    <p:sldLayoutId id="2147483735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F0C41E0-406F-4538-2A86-BAC97429D86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2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645" b="25645"/>
          <a:stretch>
            <a:fillRect/>
          </a:stretch>
        </p:blipFill>
        <p:spPr>
          <a:xfrm>
            <a:off x="20" y="1"/>
            <a:ext cx="12191980" cy="5938683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EE3CB30-2E2E-9DD9-A576-2744A312AE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300"/>
              <a:t>Lost &amp; Found </a:t>
            </a:r>
            <a:br>
              <a:rPr lang="en-US" sz="5300"/>
            </a:br>
            <a:r>
              <a:rPr lang="en-US" sz="5300"/>
              <a:t>Campus Cloud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2950DD-A812-DC4A-C5FB-8F13F63223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Khasanov</a:t>
            </a:r>
            <a:r>
              <a:rPr lang="en-US" dirty="0"/>
              <a:t> </a:t>
            </a:r>
            <a:r>
              <a:rPr lang="en-US" dirty="0" err="1"/>
              <a:t>Sayfillo | Cloud Design &amp; Implementation</a:t>
            </a:r>
            <a:endParaRPr lang="en-US" dirty="0"/>
          </a:p>
          <a:p>
            <a:endParaRPr lang="en-US" dirty="0"/>
          </a:p>
        </p:txBody>
      </p:sp>
      <p:pic>
        <p:nvPicPr>
          <p:cNvPr id="8" name="Picture 7" descr="The image depicts a digital interface with various file icons, such as a map, documents, and a flash drive, enclosed within a transparent, metallic frame, symbolizing a mobile application for lost and found items on a campus.&#10;&#10;AI-generated content may be incorrect.">
            <a:extLst>
              <a:ext uri="{FF2B5EF4-FFF2-40B4-BE49-F238E27FC236}">
                <a16:creationId xmlns:a16="http://schemas.microsoft.com/office/drawing/2014/main" id="{80310002-7291-71C8-C86F-C58763CB99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69" y="-150126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404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915C9-73CF-6083-DA6A-A4C6F1DCB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502" y="109728"/>
            <a:ext cx="10890929" cy="1097280"/>
          </a:xfrm>
        </p:spPr>
        <p:txBody>
          <a:bodyPr/>
          <a:lstStyle/>
          <a:p>
            <a:r>
              <a:rPr lang="en-US" dirty="0"/>
              <a:t>What is this app?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4727B5-2A41-19EE-4ACC-3B639D39A6E3}"/>
              </a:ext>
            </a:extLst>
          </p:cNvPr>
          <p:cNvSpPr txBox="1"/>
          <p:nvPr/>
        </p:nvSpPr>
        <p:spPr>
          <a:xfrm>
            <a:off x="628127" y="1207008"/>
            <a:ext cx="87959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Lost &amp; Found Campus App is a mobile application that helps students upload, search, </a:t>
            </a:r>
          </a:p>
          <a:p>
            <a:r>
              <a:rPr lang="en-US" dirty="0"/>
              <a:t>and recover lost items on campus.</a:t>
            </a:r>
          </a:p>
        </p:txBody>
      </p:sp>
      <p:sp>
        <p:nvSpPr>
          <p:cNvPr id="10" name="Icon1"/>
          <p:cNvSpPr/>
          <p:nvPr/>
        </p:nvSpPr>
        <p:spPr>
          <a:xfrm>
            <a:off x="1217434" y="2558000"/>
            <a:ext cx="1549671" cy="1542000"/>
          </a:xfrm>
          <a:prstGeom prst="ellipse">
            <a:avLst/>
          </a:prstGeom>
          <a:solidFill>
            <a:srgbClr val="1973EB"/>
          </a:solidFill>
          <a:ln>
            <a:noFill/>
          </a:ln>
        </p:spPr>
        <p:txBody>
          <a:bodyPr lIns="0" tIns="0" rIns="0" bIns="0" anchor="ctr" anchorCtr="1"/>
          <a:lstStyle/>
          <a:p>
            <a:pPr algn="ctr"/>
            <a:r>
              <a:rPr lang="en-US" sz="6600" b="1" dirty="0">
                <a:solidFill>
                  <a:srgbClr val="FFFFFF"/>
                </a:solidFill>
                <a:latin typeface="Segoe UI Emoji"/>
              </a:rPr>
              <a:t>📷</a:t>
            </a:r>
          </a:p>
        </p:txBody>
      </p:sp>
      <p:sp>
        <p:nvSpPr>
          <p:cNvPr id="11" name="Label1"/>
          <p:cNvSpPr txBox="1"/>
          <p:nvPr/>
        </p:nvSpPr>
        <p:spPr>
          <a:xfrm>
            <a:off x="782000" y="4300000"/>
            <a:ext cx="2500000" cy="400000"/>
          </a:xfrm>
          <a:prstGeom prst="rect">
            <a:avLst/>
          </a:prstGeom>
          <a:noFill/>
        </p:spPr>
        <p:txBody>
          <a:bodyPr wrap="square" anchor="t" anchorCtr="0"/>
          <a:lstStyle/>
          <a:p>
            <a:pPr algn="ctr"/>
            <a:r>
              <a:rPr lang="en-US" b="1" dirty="0"/>
              <a:t>Upload Items</a:t>
            </a:r>
          </a:p>
        </p:txBody>
      </p:sp>
      <p:sp>
        <p:nvSpPr>
          <p:cNvPr id="12" name="Icon2"/>
          <p:cNvSpPr/>
          <p:nvPr/>
        </p:nvSpPr>
        <p:spPr>
          <a:xfrm>
            <a:off x="5281434" y="2558000"/>
            <a:ext cx="1549671" cy="1542000"/>
          </a:xfrm>
          <a:prstGeom prst="ellipse">
            <a:avLst/>
          </a:prstGeom>
          <a:solidFill>
            <a:srgbClr val="25C8A2"/>
          </a:solidFill>
          <a:ln>
            <a:noFill/>
          </a:ln>
        </p:spPr>
        <p:txBody>
          <a:bodyPr lIns="0" tIns="0" rIns="0" bIns="0" anchor="ctr" anchorCtr="1"/>
          <a:lstStyle/>
          <a:p>
            <a:pPr algn="ctr"/>
            <a:r>
              <a:rPr lang="en-US" sz="6600" b="1" dirty="0">
                <a:solidFill>
                  <a:srgbClr val="FFFFFF"/>
                </a:solidFill>
                <a:latin typeface="Segoe UI Emoji"/>
              </a:rPr>
              <a:t>🔍</a:t>
            </a:r>
          </a:p>
        </p:txBody>
      </p:sp>
      <p:sp>
        <p:nvSpPr>
          <p:cNvPr id="13" name="Label2"/>
          <p:cNvSpPr txBox="1"/>
          <p:nvPr/>
        </p:nvSpPr>
        <p:spPr>
          <a:xfrm>
            <a:off x="4846000" y="4300000"/>
            <a:ext cx="2500000" cy="400000"/>
          </a:xfrm>
          <a:prstGeom prst="rect">
            <a:avLst/>
          </a:prstGeom>
          <a:noFill/>
        </p:spPr>
        <p:txBody>
          <a:bodyPr wrap="square" anchor="t" anchorCtr="0"/>
          <a:lstStyle/>
          <a:p>
            <a:pPr algn="ctr"/>
            <a:r>
              <a:rPr lang="en-US" b="1"/>
              <a:t>Search Items</a:t>
            </a:r>
          </a:p>
        </p:txBody>
      </p:sp>
      <p:sp>
        <p:nvSpPr>
          <p:cNvPr id="14" name="Icon3"/>
          <p:cNvSpPr/>
          <p:nvPr/>
        </p:nvSpPr>
        <p:spPr>
          <a:xfrm>
            <a:off x="9345434" y="2558000"/>
            <a:ext cx="1549671" cy="1542000"/>
          </a:xfrm>
          <a:prstGeom prst="ellipse">
            <a:avLst/>
          </a:prstGeom>
          <a:solidFill>
            <a:srgbClr val="BF8ED1"/>
          </a:solidFill>
          <a:ln>
            <a:noFill/>
          </a:ln>
        </p:spPr>
        <p:txBody>
          <a:bodyPr lIns="0" tIns="0" rIns="0" bIns="0" anchor="ctr" anchorCtr="1"/>
          <a:lstStyle/>
          <a:p>
            <a:pPr algn="ctr"/>
            <a:r>
              <a:rPr lang="en-US" sz="6600" b="1">
                <a:solidFill>
                  <a:srgbClr val="FFFFFF"/>
                </a:solidFill>
                <a:latin typeface="Segoe UI Emoji"/>
              </a:rPr>
              <a:t>💬</a:t>
            </a:r>
          </a:p>
        </p:txBody>
      </p:sp>
      <p:sp>
        <p:nvSpPr>
          <p:cNvPr id="15" name="Label3"/>
          <p:cNvSpPr txBox="1"/>
          <p:nvPr/>
        </p:nvSpPr>
        <p:spPr>
          <a:xfrm>
            <a:off x="8910000" y="4300000"/>
            <a:ext cx="2500000" cy="400000"/>
          </a:xfrm>
          <a:prstGeom prst="rect">
            <a:avLst/>
          </a:prstGeom>
          <a:noFill/>
        </p:spPr>
        <p:txBody>
          <a:bodyPr wrap="square" anchor="t" anchorCtr="0"/>
          <a:lstStyle/>
          <a:p>
            <a:pPr algn="ctr"/>
            <a:r>
              <a:rPr lang="en-US" b="1"/>
              <a:t>Contact Owner</a:t>
            </a:r>
          </a:p>
        </p:txBody>
      </p:sp>
    </p:spTree>
    <p:extLst>
      <p:ext uri="{BB962C8B-B14F-4D97-AF65-F5344CB8AC3E}">
        <p14:creationId xmlns:p14="http://schemas.microsoft.com/office/powerpoint/2010/main" val="1747990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202D7-4E59-BDD3-ABC2-3ABAA53B5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477" y="1371601"/>
            <a:ext cx="4193177" cy="1097280"/>
          </a:xfrm>
        </p:spPr>
        <p:txBody>
          <a:bodyPr>
            <a:normAutofit/>
          </a:bodyPr>
          <a:lstStyle/>
          <a:p>
            <a:r>
              <a:rPr lang="en-US" sz="3600" b="1" dirty="0"/>
              <a:t>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E0666-496C-3F71-1F45-F51A4420CE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477" y="2636206"/>
            <a:ext cx="4193177" cy="3664452"/>
          </a:xfrm>
        </p:spPr>
        <p:txBody>
          <a:bodyPr>
            <a:normAutofit/>
          </a:bodyPr>
          <a:lstStyle/>
          <a:p>
            <a:pPr marL="342900" indent="-342900">
              <a:buClr>
                <a:srgbClr val="1973EB"/>
              </a:buClr>
              <a:buFont typeface="Arial" panose="020B0604020202020204" pitchFamily="34" charset="0"/>
              <a:buChar char="●"/>
            </a:pPr>
            <a:r>
              <a:rPr lang="en-US"/>
              <a:t>Students often lose personal belongings</a:t>
            </a:r>
          </a:p>
          <a:p>
            <a:pPr marL="342900" indent="-342900">
              <a:buClr>
                <a:srgbClr val="1973EB"/>
              </a:buClr>
              <a:buFont typeface="Arial" panose="020B0604020202020204" pitchFamily="34" charset="0"/>
              <a:buChar char="●"/>
            </a:pPr>
            <a:r>
              <a:rPr lang="en-US"/>
              <a:t>Difficult to find item owners</a:t>
            </a:r>
          </a:p>
          <a:p>
            <a:pPr marL="342900" indent="-342900">
              <a:buClr>
                <a:srgbClr val="1973EB"/>
              </a:buClr>
              <a:buFont typeface="Arial" panose="020B0604020202020204" pitchFamily="34" charset="0"/>
              <a:buChar char="●"/>
            </a:pPr>
            <a:r>
              <a:rPr lang="en-US"/>
              <a:t>Social media/group chats are inefficient</a:t>
            </a:r>
          </a:p>
          <a:p>
            <a:pPr marL="342900" indent="-342900">
              <a:buClr>
                <a:srgbClr val="1973EB"/>
              </a:buClr>
              <a:buFont typeface="Arial" panose="020B0604020202020204" pitchFamily="34" charset="0"/>
              <a:buChar char="●"/>
            </a:pPr>
            <a:r>
              <a:rPr lang="en-US"/>
              <a:t>No centralized campus system</a:t>
            </a:r>
          </a:p>
        </p:txBody>
      </p:sp>
      <p:pic>
        <p:nvPicPr>
          <p:cNvPr id="11" name="Keys"/>
          <p:cNvPicPr>
            <a:picLocks noChangeAspect="1"/>
          </p:cNvPicPr>
          <p:nvPr/>
        </p:nvPicPr>
        <p:blipFill>
          <a:blip r:embed="rId2"/>
          <a:srcRect t="16759" r="2" b="12817"/>
          <a:stretch>
            <a:fillRect/>
          </a:stretch>
        </p:blipFill>
        <p:spPr>
          <a:xfrm>
            <a:off x="5392845" y="0"/>
            <a:ext cx="3256277" cy="3435578"/>
          </a:xfrm>
          <a:prstGeom prst="rect">
            <a:avLst/>
          </a:prstGeom>
        </p:spPr>
      </p:pic>
      <p:pic>
        <p:nvPicPr>
          <p:cNvPr id="10" name="Phone"/>
          <p:cNvPicPr>
            <a:picLocks noChangeAspect="1"/>
          </p:cNvPicPr>
          <p:nvPr/>
        </p:nvPicPr>
        <p:blipFill>
          <a:blip r:embed="rId3"/>
          <a:srcRect t="12572" r="2" b="17004"/>
          <a:stretch>
            <a:fillRect/>
          </a:stretch>
        </p:blipFill>
        <p:spPr>
          <a:xfrm rot="21600000">
            <a:off x="8649119" y="11"/>
            <a:ext cx="3256277" cy="3435569"/>
          </a:xfrm>
          <a:prstGeom prst="rect">
            <a:avLst/>
          </a:prstGeom>
        </p:spPr>
      </p:pic>
      <p:pic>
        <p:nvPicPr>
          <p:cNvPr id="12" name="Wallet"/>
          <p:cNvPicPr>
            <a:picLocks noChangeAspect="1"/>
          </p:cNvPicPr>
          <p:nvPr/>
        </p:nvPicPr>
        <p:blipFill>
          <a:blip r:embed="rId4"/>
          <a:srcRect t="35498" r="2" b="29357"/>
          <a:stretch>
            <a:fillRect/>
          </a:stretch>
        </p:blipFill>
        <p:spPr>
          <a:xfrm>
            <a:off x="5392848" y="3429001"/>
            <a:ext cx="6512547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044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066DE-BE0A-FA54-73BE-745FD1D96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3" y="-49200"/>
            <a:ext cx="10972800" cy="914400"/>
          </a:xfrm>
        </p:spPr>
        <p:txBody>
          <a:bodyPr anchor="b">
            <a:normAutofit/>
          </a:bodyPr>
          <a:lstStyle/>
          <a:p>
            <a:r>
              <a:rPr lang="en-US" sz="4000" b="1"/>
              <a:t>Solution</a:t>
            </a:r>
          </a:p>
        </p:txBody>
      </p:sp>
      <p:sp>
        <p:nvSpPr>
          <p:cNvPr id="4" name="Description"/>
          <p:cNvSpPr txBox="1"/>
          <p:nvPr/>
        </p:nvSpPr>
        <p:spPr>
          <a:xfrm>
            <a:off x="609600" y="1371600"/>
            <a:ext cx="109728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dirty="0"/>
              <a:t>This app provides a simple mobile platform where students can report lost items and contact owners easily.</a:t>
            </a:r>
          </a:p>
        </p:txBody>
      </p:sp>
      <p:sp>
        <p:nvSpPr>
          <p:cNvPr id="20" name="Card1Bg"/>
          <p:cNvSpPr/>
          <p:nvPr/>
        </p:nvSpPr>
        <p:spPr>
          <a:xfrm>
            <a:off x="609600" y="2150000"/>
            <a:ext cx="5181600" cy="2100000"/>
          </a:xfrm>
          <a:prstGeom prst="roundRect">
            <a:avLst>
              <a:gd name="adj" fmla="val 5000"/>
            </a:avLst>
          </a:prstGeom>
          <a:solidFill>
            <a:srgbClr val="F5F2F9"/>
          </a:solidFill>
          <a:ln>
            <a:noFill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Card1Icon"/>
          <p:cNvSpPr/>
          <p:nvPr/>
        </p:nvSpPr>
        <p:spPr>
          <a:xfrm>
            <a:off x="2800400" y="2400000"/>
            <a:ext cx="800000" cy="800000"/>
          </a:xfrm>
          <a:prstGeom prst="ellipse">
            <a:avLst/>
          </a:prstGeom>
          <a:solidFill>
            <a:srgbClr val="1973EB"/>
          </a:solidFill>
          <a:ln>
            <a:noFill/>
          </a:ln>
        </p:spPr>
        <p:txBody>
          <a:bodyPr lIns="0" tIns="0" rIns="0" bIns="0" anchor="ctr" anchorCtr="1"/>
          <a:lstStyle/>
          <a:p>
            <a:pPr algn="ctr"/>
            <a:r>
              <a:rPr lang="en-US" sz="3200" b="1">
                <a:solidFill>
                  <a:srgbClr val="FFFFFF"/>
                </a:solidFill>
                <a:latin typeface="Segoe UI Emoji"/>
              </a:rPr>
              <a:t>📷</a:t>
            </a:r>
          </a:p>
        </p:txBody>
      </p:sp>
      <p:sp>
        <p:nvSpPr>
          <p:cNvPr id="22" name="Card1Label"/>
          <p:cNvSpPr txBox="1"/>
          <p:nvPr/>
        </p:nvSpPr>
        <p:spPr>
          <a:xfrm>
            <a:off x="1109600" y="3350000"/>
            <a:ext cx="4181600" cy="700000"/>
          </a:xfrm>
          <a:prstGeom prst="rect">
            <a:avLst/>
          </a:prstGeom>
          <a:noFill/>
        </p:spPr>
        <p:txBody>
          <a:bodyPr wrap="square" anchor="ctr" anchorCtr="0"/>
          <a:lstStyle/>
          <a:p>
            <a:pPr algn="ctr"/>
            <a:r>
              <a:rPr lang="en-US" sz="2000" b="1">
                <a:solidFill>
                  <a:srgbClr val="0D1C3B"/>
                </a:solidFill>
              </a:rPr>
              <a:t>Upload Lost Items</a:t>
            </a:r>
          </a:p>
        </p:txBody>
      </p:sp>
      <p:sp>
        <p:nvSpPr>
          <p:cNvPr id="30" name="Card2Bg"/>
          <p:cNvSpPr/>
          <p:nvPr/>
        </p:nvSpPr>
        <p:spPr>
          <a:xfrm>
            <a:off x="6400200" y="2150000"/>
            <a:ext cx="5181600" cy="2100000"/>
          </a:xfrm>
          <a:prstGeom prst="roundRect">
            <a:avLst>
              <a:gd name="adj" fmla="val 5000"/>
            </a:avLst>
          </a:prstGeom>
          <a:solidFill>
            <a:srgbClr val="F5F2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Card2Icon"/>
          <p:cNvSpPr/>
          <p:nvPr/>
        </p:nvSpPr>
        <p:spPr>
          <a:xfrm>
            <a:off x="8591000" y="2400000"/>
            <a:ext cx="800000" cy="800000"/>
          </a:xfrm>
          <a:prstGeom prst="ellipse">
            <a:avLst/>
          </a:prstGeom>
          <a:solidFill>
            <a:srgbClr val="25C8A2"/>
          </a:solidFill>
          <a:ln>
            <a:noFill/>
          </a:ln>
        </p:spPr>
        <p:txBody>
          <a:bodyPr lIns="0" tIns="0" rIns="0" bIns="0" anchor="ctr" anchorCtr="1"/>
          <a:lstStyle/>
          <a:p>
            <a:pPr algn="ctr"/>
            <a:r>
              <a:rPr lang="en-US" sz="3200" b="1">
                <a:solidFill>
                  <a:srgbClr val="FFFFFF"/>
                </a:solidFill>
                <a:latin typeface="Segoe UI Emoji"/>
              </a:rPr>
              <a:t>🔍</a:t>
            </a:r>
          </a:p>
        </p:txBody>
      </p:sp>
      <p:sp>
        <p:nvSpPr>
          <p:cNvPr id="32" name="Card2Label"/>
          <p:cNvSpPr txBox="1"/>
          <p:nvPr/>
        </p:nvSpPr>
        <p:spPr>
          <a:xfrm>
            <a:off x="6900200" y="3350000"/>
            <a:ext cx="4181600" cy="700000"/>
          </a:xfrm>
          <a:prstGeom prst="rect">
            <a:avLst/>
          </a:prstGeom>
          <a:noFill/>
        </p:spPr>
        <p:txBody>
          <a:bodyPr wrap="square" anchor="ctr" anchorCtr="0"/>
          <a:lstStyle/>
          <a:p>
            <a:pPr algn="ctr"/>
            <a:r>
              <a:rPr lang="en-US" sz="2000" b="1">
                <a:solidFill>
                  <a:srgbClr val="0D1C3B"/>
                </a:solidFill>
              </a:rPr>
              <a:t>Browse Found Items</a:t>
            </a:r>
          </a:p>
        </p:txBody>
      </p:sp>
      <p:sp>
        <p:nvSpPr>
          <p:cNvPr id="40" name="Card3Bg"/>
          <p:cNvSpPr/>
          <p:nvPr/>
        </p:nvSpPr>
        <p:spPr>
          <a:xfrm>
            <a:off x="609600" y="4550000"/>
            <a:ext cx="5181600" cy="2100000"/>
          </a:xfrm>
          <a:prstGeom prst="roundRect">
            <a:avLst>
              <a:gd name="adj" fmla="val 5000"/>
            </a:avLst>
          </a:prstGeom>
          <a:solidFill>
            <a:srgbClr val="F5F2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Card3Icon"/>
          <p:cNvSpPr/>
          <p:nvPr/>
        </p:nvSpPr>
        <p:spPr>
          <a:xfrm>
            <a:off x="2800400" y="4800000"/>
            <a:ext cx="800000" cy="800000"/>
          </a:xfrm>
          <a:prstGeom prst="ellipse">
            <a:avLst/>
          </a:prstGeom>
          <a:solidFill>
            <a:srgbClr val="BF8ED1"/>
          </a:solidFill>
          <a:ln>
            <a:noFill/>
          </a:ln>
        </p:spPr>
        <p:txBody>
          <a:bodyPr lIns="0" tIns="0" rIns="0" bIns="0" anchor="ctr" anchorCtr="1"/>
          <a:lstStyle/>
          <a:p>
            <a:pPr algn="ctr"/>
            <a:r>
              <a:rPr lang="en-US" sz="3200" b="1">
                <a:solidFill>
                  <a:srgbClr val="FFFFFF"/>
                </a:solidFill>
                <a:latin typeface="Segoe UI Emoji"/>
              </a:rPr>
              <a:t>📂</a:t>
            </a:r>
          </a:p>
        </p:txBody>
      </p:sp>
      <p:sp>
        <p:nvSpPr>
          <p:cNvPr id="42" name="Card3Label"/>
          <p:cNvSpPr txBox="1"/>
          <p:nvPr/>
        </p:nvSpPr>
        <p:spPr>
          <a:xfrm>
            <a:off x="1109600" y="5750000"/>
            <a:ext cx="4181600" cy="700000"/>
          </a:xfrm>
          <a:prstGeom prst="rect">
            <a:avLst/>
          </a:prstGeom>
          <a:noFill/>
        </p:spPr>
        <p:txBody>
          <a:bodyPr wrap="square" anchor="ctr" anchorCtr="0"/>
          <a:lstStyle/>
          <a:p>
            <a:pPr algn="ctr"/>
            <a:r>
              <a:rPr lang="en-US" sz="2000" b="1">
                <a:solidFill>
                  <a:srgbClr val="0D1C3B"/>
                </a:solidFill>
              </a:rPr>
              <a:t>Browse Categories</a:t>
            </a:r>
          </a:p>
        </p:txBody>
      </p:sp>
      <p:sp>
        <p:nvSpPr>
          <p:cNvPr id="50" name="Card4Bg"/>
          <p:cNvSpPr/>
          <p:nvPr/>
        </p:nvSpPr>
        <p:spPr>
          <a:xfrm>
            <a:off x="6400200" y="4550000"/>
            <a:ext cx="5181600" cy="2100000"/>
          </a:xfrm>
          <a:prstGeom prst="roundRect">
            <a:avLst>
              <a:gd name="adj" fmla="val 5000"/>
            </a:avLst>
          </a:prstGeom>
          <a:solidFill>
            <a:srgbClr val="F5F2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Card4Icon"/>
          <p:cNvSpPr/>
          <p:nvPr/>
        </p:nvSpPr>
        <p:spPr>
          <a:xfrm>
            <a:off x="8591000" y="4800000"/>
            <a:ext cx="800000" cy="800000"/>
          </a:xfrm>
          <a:prstGeom prst="ellipse">
            <a:avLst/>
          </a:prstGeom>
          <a:solidFill>
            <a:srgbClr val="FE733C"/>
          </a:solidFill>
          <a:ln>
            <a:noFill/>
          </a:ln>
        </p:spPr>
        <p:txBody>
          <a:bodyPr lIns="0" tIns="0" rIns="0" bIns="0" anchor="ctr" anchorCtr="1"/>
          <a:lstStyle/>
          <a:p>
            <a:pPr algn="ctr"/>
            <a:r>
              <a:rPr lang="en-US" sz="3200" b="1">
                <a:solidFill>
                  <a:srgbClr val="FFFFFF"/>
                </a:solidFill>
                <a:latin typeface="Segoe UI Emoji"/>
              </a:rPr>
              <a:t>💬</a:t>
            </a:r>
          </a:p>
        </p:txBody>
      </p:sp>
      <p:sp>
        <p:nvSpPr>
          <p:cNvPr id="52" name="Card4Label"/>
          <p:cNvSpPr txBox="1"/>
          <p:nvPr/>
        </p:nvSpPr>
        <p:spPr>
          <a:xfrm>
            <a:off x="6900200" y="5750000"/>
            <a:ext cx="4181600" cy="700000"/>
          </a:xfrm>
          <a:prstGeom prst="rect">
            <a:avLst/>
          </a:prstGeom>
          <a:noFill/>
        </p:spPr>
        <p:txBody>
          <a:bodyPr wrap="square" anchor="ctr" anchorCtr="0"/>
          <a:lstStyle/>
          <a:p>
            <a:pPr algn="ctr"/>
            <a:r>
              <a:rPr lang="en-US" sz="2000" b="1">
                <a:solidFill>
                  <a:srgbClr val="0D1C3B"/>
                </a:solidFill>
              </a:rPr>
              <a:t>Contact Owner</a:t>
            </a:r>
          </a:p>
        </p:txBody>
      </p:sp>
    </p:spTree>
    <p:extLst>
      <p:ext uri="{BB962C8B-B14F-4D97-AF65-F5344CB8AC3E}">
        <p14:creationId xmlns:p14="http://schemas.microsoft.com/office/powerpoint/2010/main" val="819902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914400"/>
          </a:xfrm>
        </p:spPr>
        <p:txBody>
          <a:bodyPr anchor="b">
            <a:normAutofit/>
          </a:bodyPr>
          <a:lstStyle/>
          <a:p>
            <a:r>
              <a:rPr lang="en-US" sz="4000" b="1"/>
              <a:t>Main Features</a:t>
            </a:r>
          </a:p>
        </p:txBody>
      </p:sp>
      <p:sp>
        <p:nvSpPr>
          <p:cNvPr id="100" name="Card1Bg"/>
          <p:cNvSpPr/>
          <p:nvPr/>
        </p:nvSpPr>
        <p:spPr>
          <a:xfrm>
            <a:off x="609600" y="1500000"/>
            <a:ext cx="5181600" cy="2350000"/>
          </a:xfrm>
          <a:prstGeom prst="roundRect">
            <a:avLst>
              <a:gd name="adj" fmla="val 5000"/>
            </a:avLst>
          </a:prstGeom>
          <a:solidFill>
            <a:srgbClr val="F5F2F9"/>
          </a:solidFill>
          <a:ln>
            <a:noFill/>
          </a:ln>
        </p:spPr>
        <p:txBody>
          <a:bodyPr/>
          <a:lstStyle/>
          <a:p>
            <a:endParaRPr lang="en-US" sz="2400"/>
          </a:p>
        </p:txBody>
      </p:sp>
      <p:sp>
        <p:nvSpPr>
          <p:cNvPr id="101" name="Card1Bar"/>
          <p:cNvSpPr/>
          <p:nvPr/>
        </p:nvSpPr>
        <p:spPr>
          <a:xfrm>
            <a:off x="609600" y="1500000"/>
            <a:ext cx="5181600" cy="80000"/>
          </a:xfrm>
          <a:prstGeom prst="roundRect">
            <a:avLst>
              <a:gd name="adj" fmla="val 50000"/>
            </a:avLst>
          </a:prstGeom>
          <a:solidFill>
            <a:srgbClr val="1973EB"/>
          </a:solidFill>
          <a:ln>
            <a:noFill/>
          </a:ln>
        </p:spPr>
        <p:txBody>
          <a:bodyPr/>
          <a:lstStyle/>
          <a:p>
            <a:endParaRPr lang="en-US" sz="2400"/>
          </a:p>
        </p:txBody>
      </p:sp>
      <p:sp>
        <p:nvSpPr>
          <p:cNvPr id="102" name="Card1Icon"/>
          <p:cNvSpPr/>
          <p:nvPr/>
        </p:nvSpPr>
        <p:spPr>
          <a:xfrm>
            <a:off x="1009600" y="1750000"/>
            <a:ext cx="700000" cy="700000"/>
          </a:xfrm>
          <a:prstGeom prst="ellipse">
            <a:avLst/>
          </a:prstGeom>
          <a:solidFill>
            <a:srgbClr val="1973EB"/>
          </a:solidFill>
          <a:ln>
            <a:noFill/>
          </a:ln>
        </p:spPr>
        <p:txBody>
          <a:bodyPr lIns="0" tIns="0" rIns="0" bIns="0" anchor="ctr" anchorCtr="1"/>
          <a:lstStyle/>
          <a:p>
            <a:pPr algn="ctr"/>
            <a:r>
              <a:rPr lang="en-US" sz="2800" b="1">
                <a:solidFill>
                  <a:srgbClr val="FFFFFF"/>
                </a:solidFill>
                <a:latin typeface="Segoe UI Emoji"/>
              </a:rPr>
              <a:t>📷</a:t>
            </a:r>
          </a:p>
        </p:txBody>
      </p:sp>
      <p:sp>
        <p:nvSpPr>
          <p:cNvPr id="103" name="Card1Title"/>
          <p:cNvSpPr txBox="1"/>
          <p:nvPr/>
        </p:nvSpPr>
        <p:spPr>
          <a:xfrm>
            <a:off x="1909600" y="1800000"/>
            <a:ext cx="3581600" cy="4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en-US" sz="2400" b="1">
                <a:solidFill>
                  <a:srgbClr val="0D1C3B"/>
                </a:solidFill>
              </a:rPr>
              <a:t>Upload Item</a:t>
            </a:r>
          </a:p>
        </p:txBody>
      </p:sp>
      <p:sp>
        <p:nvSpPr>
          <p:cNvPr id="104" name="Card1Desc"/>
          <p:cNvSpPr txBox="1"/>
          <p:nvPr/>
        </p:nvSpPr>
        <p:spPr>
          <a:xfrm>
            <a:off x="1009600" y="2600000"/>
            <a:ext cx="4481600" cy="10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>
                <a:solidFill>
                  <a:srgbClr val="555555"/>
                </a:solidFill>
              </a:rPr>
              <a:t>Users can upload lost/found items with images.</a:t>
            </a:r>
          </a:p>
        </p:txBody>
      </p:sp>
      <p:sp>
        <p:nvSpPr>
          <p:cNvPr id="110" name="Card2Bg"/>
          <p:cNvSpPr/>
          <p:nvPr/>
        </p:nvSpPr>
        <p:spPr>
          <a:xfrm>
            <a:off x="6400200" y="1500000"/>
            <a:ext cx="5181600" cy="2350000"/>
          </a:xfrm>
          <a:prstGeom prst="roundRect">
            <a:avLst>
              <a:gd name="adj" fmla="val 5000"/>
            </a:avLst>
          </a:prstGeom>
          <a:solidFill>
            <a:srgbClr val="F5F2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Card2Bar"/>
          <p:cNvSpPr/>
          <p:nvPr/>
        </p:nvSpPr>
        <p:spPr>
          <a:xfrm>
            <a:off x="6400200" y="1500000"/>
            <a:ext cx="5181600" cy="80000"/>
          </a:xfrm>
          <a:prstGeom prst="roundRect">
            <a:avLst>
              <a:gd name="adj" fmla="val 50000"/>
            </a:avLst>
          </a:prstGeom>
          <a:solidFill>
            <a:srgbClr val="25C8A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Card2Icon"/>
          <p:cNvSpPr/>
          <p:nvPr/>
        </p:nvSpPr>
        <p:spPr>
          <a:xfrm>
            <a:off x="6800200" y="1750000"/>
            <a:ext cx="700000" cy="700000"/>
          </a:xfrm>
          <a:prstGeom prst="ellipse">
            <a:avLst/>
          </a:prstGeom>
          <a:solidFill>
            <a:srgbClr val="25C8A2"/>
          </a:solidFill>
          <a:ln>
            <a:noFill/>
          </a:ln>
        </p:spPr>
        <p:txBody>
          <a:bodyPr lIns="0" tIns="0" rIns="0" bIns="0" anchor="ctr" anchorCtr="1"/>
          <a:lstStyle/>
          <a:p>
            <a:pPr algn="ctr"/>
            <a:r>
              <a:rPr lang="en-US" sz="2800" b="1">
                <a:solidFill>
                  <a:srgbClr val="FFFFFF"/>
                </a:solidFill>
                <a:latin typeface="Segoe UI Emoji"/>
              </a:rPr>
              <a:t>🔍</a:t>
            </a:r>
          </a:p>
        </p:txBody>
      </p:sp>
      <p:sp>
        <p:nvSpPr>
          <p:cNvPr id="113" name="Card2Title"/>
          <p:cNvSpPr txBox="1"/>
          <p:nvPr/>
        </p:nvSpPr>
        <p:spPr>
          <a:xfrm>
            <a:off x="7700200" y="1800000"/>
            <a:ext cx="3581600" cy="4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en-US" sz="2400" b="1">
                <a:solidFill>
                  <a:srgbClr val="0D1C3B"/>
                </a:solidFill>
              </a:rPr>
              <a:t>Search System</a:t>
            </a:r>
          </a:p>
        </p:txBody>
      </p:sp>
      <p:sp>
        <p:nvSpPr>
          <p:cNvPr id="114" name="Card2Desc"/>
          <p:cNvSpPr txBox="1"/>
          <p:nvPr/>
        </p:nvSpPr>
        <p:spPr>
          <a:xfrm>
            <a:off x="6800200" y="2600000"/>
            <a:ext cx="4481600" cy="10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>
                <a:solidFill>
                  <a:srgbClr val="555555"/>
                </a:solidFill>
              </a:rPr>
              <a:t>Users can search items quickly.</a:t>
            </a:r>
          </a:p>
        </p:txBody>
      </p:sp>
      <p:sp>
        <p:nvSpPr>
          <p:cNvPr id="120" name="Card3Bg"/>
          <p:cNvSpPr/>
          <p:nvPr/>
        </p:nvSpPr>
        <p:spPr>
          <a:xfrm>
            <a:off x="609600" y="4150000"/>
            <a:ext cx="5181600" cy="2350000"/>
          </a:xfrm>
          <a:prstGeom prst="roundRect">
            <a:avLst>
              <a:gd name="adj" fmla="val 5000"/>
            </a:avLst>
          </a:prstGeom>
          <a:solidFill>
            <a:srgbClr val="F5F2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Card3Bar"/>
          <p:cNvSpPr/>
          <p:nvPr/>
        </p:nvSpPr>
        <p:spPr>
          <a:xfrm>
            <a:off x="609600" y="4150000"/>
            <a:ext cx="5181600" cy="80000"/>
          </a:xfrm>
          <a:prstGeom prst="roundRect">
            <a:avLst>
              <a:gd name="adj" fmla="val 50000"/>
            </a:avLst>
          </a:prstGeom>
          <a:solidFill>
            <a:srgbClr val="BF8ED1"/>
          </a:solidFill>
          <a:ln>
            <a:noFill/>
          </a:ln>
        </p:spPr>
        <p:txBody>
          <a:bodyPr/>
          <a:lstStyle/>
          <a:p>
            <a:endParaRPr lang="en-US" sz="2400"/>
          </a:p>
        </p:txBody>
      </p:sp>
      <p:sp>
        <p:nvSpPr>
          <p:cNvPr id="122" name="Card3Icon"/>
          <p:cNvSpPr/>
          <p:nvPr/>
        </p:nvSpPr>
        <p:spPr>
          <a:xfrm>
            <a:off x="1009600" y="4400000"/>
            <a:ext cx="700000" cy="700000"/>
          </a:xfrm>
          <a:prstGeom prst="ellipse">
            <a:avLst/>
          </a:prstGeom>
          <a:solidFill>
            <a:srgbClr val="BF8ED1"/>
          </a:solidFill>
          <a:ln>
            <a:noFill/>
          </a:ln>
        </p:spPr>
        <p:txBody>
          <a:bodyPr lIns="0" tIns="0" rIns="0" bIns="0" anchor="ctr" anchorCtr="1"/>
          <a:lstStyle/>
          <a:p>
            <a:pPr algn="ctr"/>
            <a:r>
              <a:rPr lang="en-US" sz="2800" b="1">
                <a:solidFill>
                  <a:srgbClr val="FFFFFF"/>
                </a:solidFill>
                <a:latin typeface="Segoe UI Emoji"/>
              </a:rPr>
              <a:t>📂</a:t>
            </a:r>
          </a:p>
        </p:txBody>
      </p:sp>
      <p:sp>
        <p:nvSpPr>
          <p:cNvPr id="123" name="Card3Title"/>
          <p:cNvSpPr txBox="1"/>
          <p:nvPr/>
        </p:nvSpPr>
        <p:spPr>
          <a:xfrm>
            <a:off x="1909600" y="4450000"/>
            <a:ext cx="3581600" cy="4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en-US" sz="2400" b="1">
                <a:solidFill>
                  <a:srgbClr val="0D1C3B"/>
                </a:solidFill>
              </a:rPr>
              <a:t>Categories</a:t>
            </a:r>
          </a:p>
        </p:txBody>
      </p:sp>
      <p:sp>
        <p:nvSpPr>
          <p:cNvPr id="124" name="Card3Desc"/>
          <p:cNvSpPr txBox="1"/>
          <p:nvPr/>
        </p:nvSpPr>
        <p:spPr>
          <a:xfrm>
            <a:off x="1009600" y="5250000"/>
            <a:ext cx="4481600" cy="10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>
                <a:solidFill>
                  <a:srgbClr val="555555"/>
                </a:solidFill>
              </a:rPr>
              <a:t>Items are organized by category.</a:t>
            </a:r>
          </a:p>
        </p:txBody>
      </p:sp>
      <p:sp>
        <p:nvSpPr>
          <p:cNvPr id="130" name="Card4Bg"/>
          <p:cNvSpPr/>
          <p:nvPr/>
        </p:nvSpPr>
        <p:spPr>
          <a:xfrm>
            <a:off x="6400200" y="4150000"/>
            <a:ext cx="5181600" cy="2350000"/>
          </a:xfrm>
          <a:prstGeom prst="roundRect">
            <a:avLst>
              <a:gd name="adj" fmla="val 5000"/>
            </a:avLst>
          </a:prstGeom>
          <a:solidFill>
            <a:srgbClr val="F5F2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1" name="Card4Bar"/>
          <p:cNvSpPr/>
          <p:nvPr/>
        </p:nvSpPr>
        <p:spPr>
          <a:xfrm>
            <a:off x="6400200" y="4150000"/>
            <a:ext cx="5181600" cy="80000"/>
          </a:xfrm>
          <a:prstGeom prst="roundRect">
            <a:avLst>
              <a:gd name="adj" fmla="val 50000"/>
            </a:avLst>
          </a:prstGeom>
          <a:solidFill>
            <a:srgbClr val="FE733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2" name="Card4Icon"/>
          <p:cNvSpPr/>
          <p:nvPr/>
        </p:nvSpPr>
        <p:spPr>
          <a:xfrm>
            <a:off x="6800200" y="4400000"/>
            <a:ext cx="700000" cy="700000"/>
          </a:xfrm>
          <a:prstGeom prst="ellipse">
            <a:avLst/>
          </a:prstGeom>
          <a:solidFill>
            <a:srgbClr val="FE733C"/>
          </a:solidFill>
          <a:ln>
            <a:noFill/>
          </a:ln>
        </p:spPr>
        <p:txBody>
          <a:bodyPr lIns="0" tIns="0" rIns="0" bIns="0" anchor="ctr" anchorCtr="1"/>
          <a:lstStyle/>
          <a:p>
            <a:pPr algn="ctr"/>
            <a:r>
              <a:rPr lang="en-US" sz="2800" b="1">
                <a:solidFill>
                  <a:srgbClr val="FFFFFF"/>
                </a:solidFill>
                <a:latin typeface="Segoe UI Emoji"/>
              </a:rPr>
              <a:t>💬</a:t>
            </a:r>
          </a:p>
        </p:txBody>
      </p:sp>
      <p:sp>
        <p:nvSpPr>
          <p:cNvPr id="133" name="Card4Title"/>
          <p:cNvSpPr txBox="1"/>
          <p:nvPr/>
        </p:nvSpPr>
        <p:spPr>
          <a:xfrm>
            <a:off x="7700200" y="4450000"/>
            <a:ext cx="3581600" cy="4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en-US" sz="2400" b="1">
                <a:solidFill>
                  <a:srgbClr val="0D1C3B"/>
                </a:solidFill>
              </a:rPr>
              <a:t>Contact Owner</a:t>
            </a:r>
          </a:p>
        </p:txBody>
      </p:sp>
      <p:sp>
        <p:nvSpPr>
          <p:cNvPr id="134" name="Card4Desc"/>
          <p:cNvSpPr txBox="1"/>
          <p:nvPr/>
        </p:nvSpPr>
        <p:spPr>
          <a:xfrm>
            <a:off x="6800200" y="5250000"/>
            <a:ext cx="4481600" cy="10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>
                <a:solidFill>
                  <a:srgbClr val="555555"/>
                </a:solidFill>
              </a:rPr>
              <a:t>Users can communicate with the uploader.</a:t>
            </a:r>
          </a:p>
        </p:txBody>
      </p:sp>
    </p:spTree>
    <p:extLst>
      <p:ext uri="{BB962C8B-B14F-4D97-AF65-F5344CB8AC3E}">
        <p14:creationId xmlns:p14="http://schemas.microsoft.com/office/powerpoint/2010/main" val="1234567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86EDF1A-9482-CD0A-DDCD-44C29CE75AD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3385" y="3165231"/>
            <a:ext cx="1588" cy="15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678C1C6-CBCD-C1FE-E969-7C209BC4D98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3385" y="3165231"/>
            <a:ext cx="1588" cy="15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76BB8A4-D905-B55D-AF01-7E1D3B3C0425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3385" y="3165231"/>
            <a:ext cx="1588" cy="158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3FAC04F-27D8-5DD2-04B6-F3D6E6F0109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3385" y="3165231"/>
            <a:ext cx="1588" cy="158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C524DF0-2607-96EB-23B0-9225EDBBEF9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3385" y="3165231"/>
            <a:ext cx="1588" cy="158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3DB5C7F-443B-80A9-AE96-0315E574F0B8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3385" y="3165231"/>
            <a:ext cx="1588" cy="158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8C5331D-70BF-A882-A9C9-316C97E18C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0998" y="1352698"/>
            <a:ext cx="2232259" cy="483656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E4150E5-13FD-5383-774D-509D177E49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6996" y="1352698"/>
            <a:ext cx="2232259" cy="483656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F56ABE9-DA97-A137-94F9-17F2F6490610}"/>
              </a:ext>
            </a:extLst>
          </p:cNvPr>
          <p:cNvSpPr txBox="1"/>
          <p:nvPr/>
        </p:nvSpPr>
        <p:spPr>
          <a:xfrm>
            <a:off x="518615" y="245660"/>
            <a:ext cx="24673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App Screens</a:t>
            </a:r>
          </a:p>
        </p:txBody>
      </p:sp>
      <p:pic>
        <p:nvPicPr>
          <p:cNvPr id="28" name="Picture 27" descr="The image displays the interface of the Lost Found Campus App, featuring a search function for different categories and a feature to add an item.&#10;&#10;AI-generated content may be incorrect.">
            <a:extLst>
              <a:ext uri="{FF2B5EF4-FFF2-40B4-BE49-F238E27FC236}">
                <a16:creationId xmlns:a16="http://schemas.microsoft.com/office/drawing/2014/main" id="{697553C6-3C11-8084-9875-4A43628AC5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2780" y="1352697"/>
            <a:ext cx="2232260" cy="4836562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33D85DE4-5B99-D68F-8439-773479144B52}"/>
              </a:ext>
            </a:extLst>
          </p:cNvPr>
          <p:cNvSpPr txBox="1"/>
          <p:nvPr/>
        </p:nvSpPr>
        <p:spPr>
          <a:xfrm>
            <a:off x="1631576" y="6342189"/>
            <a:ext cx="15263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Home screen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3F58027-F16F-1EED-EEB6-9CEB85BD6401}"/>
              </a:ext>
            </a:extLst>
          </p:cNvPr>
          <p:cNvSpPr txBox="1"/>
          <p:nvPr/>
        </p:nvSpPr>
        <p:spPr>
          <a:xfrm>
            <a:off x="5051839" y="6342189"/>
            <a:ext cx="1630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Upload screen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530BE80-3A92-A1B1-F108-DE4945EE0280}"/>
              </a:ext>
            </a:extLst>
          </p:cNvPr>
          <p:cNvSpPr txBox="1"/>
          <p:nvPr/>
        </p:nvSpPr>
        <p:spPr>
          <a:xfrm>
            <a:off x="8029904" y="6342189"/>
            <a:ext cx="1986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Items</a:t>
            </a:r>
            <a:r>
              <a:rPr lang="en-US" dirty="0"/>
              <a:t> list screen</a:t>
            </a:r>
          </a:p>
        </p:txBody>
      </p:sp>
    </p:spTree>
    <p:extLst>
      <p:ext uri="{BB962C8B-B14F-4D97-AF65-F5344CB8AC3E}">
        <p14:creationId xmlns:p14="http://schemas.microsoft.com/office/powerpoint/2010/main" val="2252775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9CD0D-96AE-B312-FE29-78AA34AA7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108174"/>
            <a:ext cx="10972800" cy="914400"/>
          </a:xfrm>
        </p:spPr>
        <p:txBody>
          <a:bodyPr anchor="b">
            <a:normAutofit/>
          </a:bodyPr>
          <a:lstStyle/>
          <a:p>
            <a:r>
              <a:rPr lang="en-US" sz="4000" b="1" dirty="0"/>
              <a:t>Cloud Architecture &amp; Data Flow</a:t>
            </a:r>
          </a:p>
        </p:txBody>
      </p:sp>
      <p:sp>
        <p:nvSpPr>
          <p:cNvPr id="10" name="Node1Bg"/>
          <p:cNvSpPr/>
          <p:nvPr/>
        </p:nvSpPr>
        <p:spPr>
          <a:xfrm>
            <a:off x="1104165" y="2103113"/>
            <a:ext cx="1700000" cy="1400000"/>
          </a:xfrm>
          <a:prstGeom prst="roundRect">
            <a:avLst>
              <a:gd name="adj" fmla="val 10000"/>
            </a:avLst>
          </a:prstGeom>
          <a:solidFill>
            <a:srgbClr val="1973EB"/>
          </a:solidFill>
          <a:ln>
            <a:noFill/>
          </a:ln>
        </p:spPr>
        <p:txBody>
          <a:bodyPr/>
          <a:lstStyle/>
          <a:p>
            <a:endParaRPr lang="en-US" sz="2800"/>
          </a:p>
        </p:txBody>
      </p:sp>
      <p:sp>
        <p:nvSpPr>
          <p:cNvPr id="11" name="Node1Icon"/>
          <p:cNvSpPr/>
          <p:nvPr/>
        </p:nvSpPr>
        <p:spPr>
          <a:xfrm>
            <a:off x="1654165" y="2203113"/>
            <a:ext cx="600000" cy="600000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txBody>
          <a:bodyPr lIns="0" tIns="0" rIns="0" bIns="0" anchor="ctr" anchorCtr="1"/>
          <a:lstStyle/>
          <a:p>
            <a:pPr algn="ctr"/>
            <a:r>
              <a:rPr lang="en-US" sz="3200" b="1">
                <a:solidFill>
                  <a:srgbClr val="FFFFFF"/>
                </a:solidFill>
                <a:latin typeface="Segoe UI Emoji"/>
              </a:rPr>
              <a:t>👤</a:t>
            </a:r>
          </a:p>
        </p:txBody>
      </p:sp>
      <p:sp>
        <p:nvSpPr>
          <p:cNvPr id="12" name="Node1Label"/>
          <p:cNvSpPr txBox="1"/>
          <p:nvPr/>
        </p:nvSpPr>
        <p:spPr>
          <a:xfrm>
            <a:off x="1104165" y="2903113"/>
            <a:ext cx="1700000" cy="500000"/>
          </a:xfrm>
          <a:prstGeom prst="rect">
            <a:avLst/>
          </a:prstGeom>
          <a:noFill/>
        </p:spPr>
        <p:txBody>
          <a:bodyPr wrap="square" anchor="ctr" anchorCtr="0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User</a:t>
            </a:r>
          </a:p>
        </p:txBody>
      </p:sp>
      <p:sp>
        <p:nvSpPr>
          <p:cNvPr id="13" name="Node1Badge"/>
          <p:cNvSpPr/>
          <p:nvPr/>
        </p:nvSpPr>
        <p:spPr>
          <a:xfrm>
            <a:off x="1104165" y="1903113"/>
            <a:ext cx="400000" cy="400000"/>
          </a:xfrm>
          <a:prstGeom prst="ellipse">
            <a:avLst/>
          </a:prstGeom>
          <a:solidFill>
            <a:srgbClr val="0D1C3B"/>
          </a:solidFill>
          <a:ln>
            <a:noFill/>
          </a:ln>
        </p:spPr>
        <p:txBody>
          <a:bodyPr lIns="0" tIns="0" rIns="0" bIns="0" anchor="ctr" anchorCtr="1"/>
          <a:lstStyle/>
          <a:p>
            <a:pPr algn="ctr"/>
            <a:r>
              <a:rPr lang="en-US" sz="20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Arrow1"/>
          <p:cNvSpPr/>
          <p:nvPr/>
        </p:nvSpPr>
        <p:spPr>
          <a:xfrm>
            <a:off x="2854165" y="2653113"/>
            <a:ext cx="300000" cy="30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D1C3B"/>
          </a:solidFill>
          <a:ln>
            <a:noFill/>
          </a:ln>
        </p:spPr>
        <p:txBody>
          <a:bodyPr/>
          <a:lstStyle/>
          <a:p>
            <a:endParaRPr lang="en-US" sz="2800"/>
          </a:p>
        </p:txBody>
      </p:sp>
      <p:sp>
        <p:nvSpPr>
          <p:cNvPr id="20" name="Node2Bg"/>
          <p:cNvSpPr/>
          <p:nvPr/>
        </p:nvSpPr>
        <p:spPr>
          <a:xfrm>
            <a:off x="3154165" y="2103113"/>
            <a:ext cx="1700000" cy="1400000"/>
          </a:xfrm>
          <a:prstGeom prst="roundRect">
            <a:avLst>
              <a:gd name="adj" fmla="val 10000"/>
            </a:avLst>
          </a:prstGeom>
          <a:solidFill>
            <a:srgbClr val="25C8A2"/>
          </a:solidFill>
          <a:ln>
            <a:noFill/>
          </a:ln>
        </p:spPr>
        <p:txBody>
          <a:bodyPr/>
          <a:lstStyle/>
          <a:p>
            <a:endParaRPr lang="en-US" sz="2800"/>
          </a:p>
        </p:txBody>
      </p:sp>
      <p:sp>
        <p:nvSpPr>
          <p:cNvPr id="21" name="Node2Icon"/>
          <p:cNvSpPr/>
          <p:nvPr/>
        </p:nvSpPr>
        <p:spPr>
          <a:xfrm>
            <a:off x="3704165" y="2203113"/>
            <a:ext cx="600000" cy="600000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txBody>
          <a:bodyPr lIns="0" tIns="0" rIns="0" bIns="0" anchor="ctr" anchorCtr="1"/>
          <a:lstStyle/>
          <a:p>
            <a:pPr algn="ctr"/>
            <a:r>
              <a:rPr lang="en-US" sz="3200" b="1">
                <a:solidFill>
                  <a:srgbClr val="FFFFFF"/>
                </a:solidFill>
                <a:latin typeface="Segoe UI Emoji"/>
              </a:rPr>
              <a:t>📷</a:t>
            </a:r>
          </a:p>
        </p:txBody>
      </p:sp>
      <p:sp>
        <p:nvSpPr>
          <p:cNvPr id="22" name="Node2Label"/>
          <p:cNvSpPr txBox="1"/>
          <p:nvPr/>
        </p:nvSpPr>
        <p:spPr>
          <a:xfrm>
            <a:off x="3154165" y="2853113"/>
            <a:ext cx="1700000" cy="550000"/>
          </a:xfrm>
          <a:prstGeom prst="rect">
            <a:avLst/>
          </a:prstGeom>
          <a:noFill/>
        </p:spPr>
        <p:txBody>
          <a:bodyPr wrap="square" anchor="ctr" anchorCtr="0"/>
          <a:lstStyle/>
          <a:p>
            <a:pPr algn="ctr"/>
            <a:r>
              <a:rPr lang="en-US" b="1">
                <a:solidFill>
                  <a:srgbClr val="FFFFFF"/>
                </a:solidFill>
              </a:rPr>
              <a:t>Upload/Search Item</a:t>
            </a:r>
          </a:p>
        </p:txBody>
      </p:sp>
      <p:sp>
        <p:nvSpPr>
          <p:cNvPr id="23" name="Node2Badge"/>
          <p:cNvSpPr/>
          <p:nvPr/>
        </p:nvSpPr>
        <p:spPr>
          <a:xfrm>
            <a:off x="3154165" y="1903113"/>
            <a:ext cx="400000" cy="400000"/>
          </a:xfrm>
          <a:prstGeom prst="ellipse">
            <a:avLst/>
          </a:prstGeom>
          <a:solidFill>
            <a:srgbClr val="0D1C3B"/>
          </a:solidFill>
          <a:ln>
            <a:noFill/>
          </a:ln>
        </p:spPr>
        <p:txBody>
          <a:bodyPr lIns="0" tIns="0" rIns="0" bIns="0" anchor="ctr" anchorCtr="1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Arrow2"/>
          <p:cNvSpPr/>
          <p:nvPr/>
        </p:nvSpPr>
        <p:spPr>
          <a:xfrm>
            <a:off x="4904165" y="2653113"/>
            <a:ext cx="300000" cy="30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D1C3B"/>
          </a:solidFill>
          <a:ln>
            <a:noFill/>
          </a:ln>
        </p:spPr>
        <p:txBody>
          <a:bodyPr/>
          <a:lstStyle/>
          <a:p>
            <a:endParaRPr lang="en-US" sz="2800"/>
          </a:p>
        </p:txBody>
      </p:sp>
      <p:sp>
        <p:nvSpPr>
          <p:cNvPr id="30" name="Node3Bg"/>
          <p:cNvSpPr/>
          <p:nvPr/>
        </p:nvSpPr>
        <p:spPr>
          <a:xfrm>
            <a:off x="5204165" y="2103113"/>
            <a:ext cx="1700000" cy="1400000"/>
          </a:xfrm>
          <a:prstGeom prst="roundRect">
            <a:avLst>
              <a:gd name="adj" fmla="val 10000"/>
            </a:avLst>
          </a:prstGeom>
          <a:solidFill>
            <a:srgbClr val="BF8ED1"/>
          </a:solidFill>
          <a:ln>
            <a:noFill/>
          </a:ln>
        </p:spPr>
        <p:txBody>
          <a:bodyPr/>
          <a:lstStyle/>
          <a:p>
            <a:endParaRPr lang="en-US" sz="2800"/>
          </a:p>
        </p:txBody>
      </p:sp>
      <p:sp>
        <p:nvSpPr>
          <p:cNvPr id="31" name="Node3Icon"/>
          <p:cNvSpPr/>
          <p:nvPr/>
        </p:nvSpPr>
        <p:spPr>
          <a:xfrm>
            <a:off x="5754165" y="2203113"/>
            <a:ext cx="600000" cy="600000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txBody>
          <a:bodyPr lIns="0" tIns="0" rIns="0" bIns="0" anchor="ctr" anchorCtr="1"/>
          <a:lstStyle/>
          <a:p>
            <a:pPr algn="ctr"/>
            <a:r>
              <a:rPr lang="en-US" sz="3200" b="1">
                <a:solidFill>
                  <a:srgbClr val="FFFFFF"/>
                </a:solidFill>
                <a:latin typeface="Segoe UI Emoji"/>
              </a:rPr>
              <a:t>💾</a:t>
            </a:r>
          </a:p>
        </p:txBody>
      </p:sp>
      <p:sp>
        <p:nvSpPr>
          <p:cNvPr id="32" name="Node3Label"/>
          <p:cNvSpPr txBox="1"/>
          <p:nvPr/>
        </p:nvSpPr>
        <p:spPr>
          <a:xfrm>
            <a:off x="5204165" y="2903113"/>
            <a:ext cx="1700000" cy="500000"/>
          </a:xfrm>
          <a:prstGeom prst="rect">
            <a:avLst/>
          </a:prstGeom>
          <a:noFill/>
        </p:spPr>
        <p:txBody>
          <a:bodyPr wrap="square" anchor="ctr" anchorCtr="0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Cloud Firestore</a:t>
            </a:r>
          </a:p>
        </p:txBody>
      </p:sp>
      <p:sp>
        <p:nvSpPr>
          <p:cNvPr id="33" name="Node3Badge"/>
          <p:cNvSpPr/>
          <p:nvPr/>
        </p:nvSpPr>
        <p:spPr>
          <a:xfrm>
            <a:off x="5204165" y="1903113"/>
            <a:ext cx="400000" cy="400000"/>
          </a:xfrm>
          <a:prstGeom prst="ellipse">
            <a:avLst/>
          </a:prstGeom>
          <a:solidFill>
            <a:srgbClr val="0D1C3B"/>
          </a:solidFill>
          <a:ln>
            <a:noFill/>
          </a:ln>
        </p:spPr>
        <p:txBody>
          <a:bodyPr lIns="0" tIns="0" rIns="0" bIns="0" anchor="ctr" anchorCtr="1"/>
          <a:lstStyle/>
          <a:p>
            <a:pPr algn="ctr"/>
            <a:r>
              <a:rPr lang="en-US" sz="20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4" name="Arrow3"/>
          <p:cNvSpPr/>
          <p:nvPr/>
        </p:nvSpPr>
        <p:spPr>
          <a:xfrm>
            <a:off x="6954165" y="2653113"/>
            <a:ext cx="300000" cy="30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D1C3B"/>
          </a:solidFill>
          <a:ln>
            <a:noFill/>
          </a:ln>
        </p:spPr>
        <p:txBody>
          <a:bodyPr/>
          <a:lstStyle/>
          <a:p>
            <a:endParaRPr lang="en-US" sz="2800"/>
          </a:p>
        </p:txBody>
      </p:sp>
      <p:sp>
        <p:nvSpPr>
          <p:cNvPr id="40" name="Node4Bg"/>
          <p:cNvSpPr/>
          <p:nvPr/>
        </p:nvSpPr>
        <p:spPr>
          <a:xfrm>
            <a:off x="7254165" y="2103113"/>
            <a:ext cx="1700000" cy="1400000"/>
          </a:xfrm>
          <a:prstGeom prst="roundRect">
            <a:avLst>
              <a:gd name="adj" fmla="val 10000"/>
            </a:avLst>
          </a:prstGeom>
          <a:solidFill>
            <a:srgbClr val="FE733C"/>
          </a:solidFill>
          <a:ln>
            <a:noFill/>
          </a:ln>
        </p:spPr>
        <p:txBody>
          <a:bodyPr/>
          <a:lstStyle/>
          <a:p>
            <a:endParaRPr lang="en-US" sz="2800"/>
          </a:p>
        </p:txBody>
      </p:sp>
      <p:sp>
        <p:nvSpPr>
          <p:cNvPr id="41" name="Node4Icon"/>
          <p:cNvSpPr/>
          <p:nvPr/>
        </p:nvSpPr>
        <p:spPr>
          <a:xfrm>
            <a:off x="7804165" y="2203113"/>
            <a:ext cx="600000" cy="600000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txBody>
          <a:bodyPr lIns="0" tIns="0" rIns="0" bIns="0" anchor="ctr" anchorCtr="1"/>
          <a:lstStyle/>
          <a:p>
            <a:pPr algn="ctr"/>
            <a:r>
              <a:rPr lang="en-US" sz="3200" b="1">
                <a:solidFill>
                  <a:srgbClr val="FFFFFF"/>
                </a:solidFill>
                <a:latin typeface="Segoe UI Emoji"/>
              </a:rPr>
              <a:t>📋</a:t>
            </a:r>
          </a:p>
        </p:txBody>
      </p:sp>
      <p:sp>
        <p:nvSpPr>
          <p:cNvPr id="42" name="Node4Label"/>
          <p:cNvSpPr txBox="1"/>
          <p:nvPr/>
        </p:nvSpPr>
        <p:spPr>
          <a:xfrm>
            <a:off x="7254165" y="2853113"/>
            <a:ext cx="1700000" cy="550000"/>
          </a:xfrm>
          <a:prstGeom prst="rect">
            <a:avLst/>
          </a:prstGeom>
          <a:noFill/>
        </p:spPr>
        <p:txBody>
          <a:bodyPr wrap="square" anchor="ctr" anchorCtr="0"/>
          <a:lstStyle/>
          <a:p>
            <a:pPr algn="ctr"/>
            <a:r>
              <a:rPr lang="en-US" b="1">
                <a:solidFill>
                  <a:srgbClr val="FFFFFF"/>
                </a:solidFill>
              </a:rPr>
              <a:t>View Item Details</a:t>
            </a:r>
          </a:p>
        </p:txBody>
      </p:sp>
      <p:sp>
        <p:nvSpPr>
          <p:cNvPr id="43" name="Node4Badge"/>
          <p:cNvSpPr/>
          <p:nvPr/>
        </p:nvSpPr>
        <p:spPr>
          <a:xfrm>
            <a:off x="7254165" y="1903113"/>
            <a:ext cx="400000" cy="400000"/>
          </a:xfrm>
          <a:prstGeom prst="ellipse">
            <a:avLst/>
          </a:prstGeom>
          <a:solidFill>
            <a:srgbClr val="0D1C3B"/>
          </a:solidFill>
          <a:ln>
            <a:noFill/>
          </a:ln>
        </p:spPr>
        <p:txBody>
          <a:bodyPr lIns="0" tIns="0" rIns="0" bIns="0" anchor="ctr" anchorCtr="1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4" name="Arrow4"/>
          <p:cNvSpPr/>
          <p:nvPr/>
        </p:nvSpPr>
        <p:spPr>
          <a:xfrm>
            <a:off x="9004165" y="2653113"/>
            <a:ext cx="300000" cy="30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D1C3B"/>
          </a:solidFill>
          <a:ln>
            <a:noFill/>
          </a:ln>
        </p:spPr>
        <p:txBody>
          <a:bodyPr/>
          <a:lstStyle/>
          <a:p>
            <a:endParaRPr lang="en-US" sz="2800"/>
          </a:p>
        </p:txBody>
      </p:sp>
      <p:sp>
        <p:nvSpPr>
          <p:cNvPr id="50" name="Node5Bg"/>
          <p:cNvSpPr/>
          <p:nvPr/>
        </p:nvSpPr>
        <p:spPr>
          <a:xfrm>
            <a:off x="9304165" y="2103113"/>
            <a:ext cx="1700000" cy="1400000"/>
          </a:xfrm>
          <a:prstGeom prst="roundRect">
            <a:avLst>
              <a:gd name="adj" fmla="val 10000"/>
            </a:avLst>
          </a:prstGeom>
          <a:solidFill>
            <a:srgbClr val="FE5A5A"/>
          </a:solidFill>
          <a:ln>
            <a:noFill/>
          </a:ln>
        </p:spPr>
        <p:txBody>
          <a:bodyPr/>
          <a:lstStyle/>
          <a:p>
            <a:endParaRPr lang="en-US" sz="2800"/>
          </a:p>
        </p:txBody>
      </p:sp>
      <p:sp>
        <p:nvSpPr>
          <p:cNvPr id="51" name="Node5Icon"/>
          <p:cNvSpPr/>
          <p:nvPr/>
        </p:nvSpPr>
        <p:spPr>
          <a:xfrm>
            <a:off x="9854165" y="2203113"/>
            <a:ext cx="600000" cy="600000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txBody>
          <a:bodyPr lIns="0" tIns="0" rIns="0" bIns="0" anchor="ctr" anchorCtr="1"/>
          <a:lstStyle/>
          <a:p>
            <a:pPr algn="ctr"/>
            <a:r>
              <a:rPr lang="en-US" sz="3200" b="1">
                <a:solidFill>
                  <a:srgbClr val="FFFFFF"/>
                </a:solidFill>
                <a:latin typeface="Segoe UI Emoji"/>
              </a:rPr>
              <a:t>💬</a:t>
            </a:r>
          </a:p>
        </p:txBody>
      </p:sp>
      <p:sp>
        <p:nvSpPr>
          <p:cNvPr id="52" name="Node5Label"/>
          <p:cNvSpPr txBox="1"/>
          <p:nvPr/>
        </p:nvSpPr>
        <p:spPr>
          <a:xfrm>
            <a:off x="9304165" y="2853113"/>
            <a:ext cx="1700000" cy="550000"/>
          </a:xfrm>
          <a:prstGeom prst="rect">
            <a:avLst/>
          </a:prstGeom>
          <a:noFill/>
        </p:spPr>
        <p:txBody>
          <a:bodyPr wrap="square" anchor="ctr" anchorCtr="0"/>
          <a:lstStyle/>
          <a:p>
            <a:pPr algn="ctr"/>
            <a:r>
              <a:rPr lang="en-US" b="1">
                <a:solidFill>
                  <a:srgbClr val="FFFFFF"/>
                </a:solidFill>
              </a:rPr>
              <a:t>Contact Owner</a:t>
            </a:r>
          </a:p>
        </p:txBody>
      </p:sp>
      <p:sp>
        <p:nvSpPr>
          <p:cNvPr id="53" name="Node5Badge"/>
          <p:cNvSpPr/>
          <p:nvPr/>
        </p:nvSpPr>
        <p:spPr>
          <a:xfrm>
            <a:off x="9304165" y="1903113"/>
            <a:ext cx="400000" cy="400000"/>
          </a:xfrm>
          <a:prstGeom prst="ellipse">
            <a:avLst/>
          </a:prstGeom>
          <a:solidFill>
            <a:srgbClr val="0D1C3B"/>
          </a:solidFill>
          <a:ln>
            <a:noFill/>
          </a:ln>
        </p:spPr>
        <p:txBody>
          <a:bodyPr lIns="0" tIns="0" rIns="0" bIns="0" anchor="ctr" anchorCtr="1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60" name="Subtitle"/>
          <p:cNvSpPr txBox="1"/>
          <p:nvPr/>
        </p:nvSpPr>
        <p:spPr>
          <a:xfrm>
            <a:off x="1146000" y="3953113"/>
            <a:ext cx="9900000" cy="18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dirty="0">
                <a:solidFill>
                  <a:srgbClr val="1973EB"/>
                </a:solidFill>
              </a:rPr>
              <a:t>User</a:t>
            </a:r>
            <a:r>
              <a:rPr lang="en-US" dirty="0">
                <a:solidFill>
                  <a:srgbClr val="555555"/>
                </a:solidFill>
              </a:rPr>
              <a:t>  </a:t>
            </a:r>
            <a:r>
              <a:rPr lang="en-US" dirty="0"/>
              <a:t>opens the app  →  </a:t>
            </a:r>
            <a:r>
              <a:rPr lang="en-US" dirty="0">
                <a:solidFill>
                  <a:srgbClr val="25C8A2"/>
                </a:solidFill>
              </a:rPr>
              <a:t>uploads or searches</a:t>
            </a:r>
            <a:r>
              <a:rPr lang="en-US" dirty="0">
                <a:solidFill>
                  <a:srgbClr val="555555"/>
                </a:solidFill>
              </a:rPr>
              <a:t>  </a:t>
            </a:r>
            <a:r>
              <a:rPr lang="en-US" dirty="0"/>
              <a:t>for an item  →  the </a:t>
            </a:r>
            <a:r>
              <a:rPr lang="en-US" dirty="0">
                <a:solidFill>
                  <a:srgbClr val="BF8ED1"/>
                </a:solidFill>
              </a:rPr>
              <a:t>database</a:t>
            </a:r>
            <a:r>
              <a:rPr lang="en-US" dirty="0">
                <a:solidFill>
                  <a:srgbClr val="555555"/>
                </a:solidFill>
              </a:rPr>
              <a:t>  </a:t>
            </a:r>
            <a:r>
              <a:rPr lang="en-US" dirty="0"/>
              <a:t>stores and retrieves data  →  user</a:t>
            </a:r>
            <a:r>
              <a:rPr lang="en-US" dirty="0">
                <a:solidFill>
                  <a:srgbClr val="555555"/>
                </a:solidFill>
              </a:rPr>
              <a:t> </a:t>
            </a:r>
            <a:r>
              <a:rPr lang="en-US" dirty="0">
                <a:solidFill>
                  <a:srgbClr val="FE733C"/>
                </a:solidFill>
              </a:rPr>
              <a:t>views details</a:t>
            </a:r>
            <a:r>
              <a:rPr lang="en-US" dirty="0">
                <a:solidFill>
                  <a:srgbClr val="555555"/>
                </a:solidFill>
              </a:rPr>
              <a:t>  </a:t>
            </a:r>
            <a:r>
              <a:rPr lang="en-US" dirty="0"/>
              <a:t>→</a:t>
            </a:r>
            <a:r>
              <a:rPr lang="en-US" dirty="0">
                <a:solidFill>
                  <a:srgbClr val="555555"/>
                </a:solidFill>
              </a:rPr>
              <a:t>  </a:t>
            </a:r>
            <a:r>
              <a:rPr lang="en-US" dirty="0">
                <a:solidFill>
                  <a:srgbClr val="FE5A5A"/>
                </a:solidFill>
              </a:rPr>
              <a:t>contacts the owner</a:t>
            </a:r>
          </a:p>
        </p:txBody>
      </p:sp>
    </p:spTree>
    <p:extLst>
      <p:ext uri="{BB962C8B-B14F-4D97-AF65-F5344CB8AC3E}">
        <p14:creationId xmlns:p14="http://schemas.microsoft.com/office/powerpoint/2010/main" val="3439488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/>
      <p:bldP spid="13" grpId="0" animBg="1"/>
      <p:bldP spid="14" grpId="0" animBg="1"/>
      <p:bldP spid="20" grpId="0" animBg="1"/>
      <p:bldP spid="21" grpId="0" animBg="1"/>
      <p:bldP spid="22" grpId="0"/>
      <p:bldP spid="23" grpId="0" animBg="1"/>
      <p:bldP spid="24" grpId="0" animBg="1"/>
      <p:bldP spid="30" grpId="0" animBg="1"/>
      <p:bldP spid="31" grpId="0" animBg="1"/>
      <p:bldP spid="32" grpId="0"/>
      <p:bldP spid="33" grpId="0" animBg="1"/>
      <p:bldP spid="34" grpId="0" animBg="1"/>
      <p:bldP spid="40" grpId="0" animBg="1"/>
      <p:bldP spid="41" grpId="0" animBg="1"/>
      <p:bldP spid="42" grpId="0"/>
      <p:bldP spid="43" grpId="0" animBg="1"/>
      <p:bldP spid="44" grpId="0" animBg="1"/>
      <p:bldP spid="50" grpId="0" animBg="1"/>
      <p:bldP spid="51" grpId="0" animBg="1"/>
      <p:bldP spid="52" grpId="0"/>
      <p:bldP spid="5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B4F06-6860-F031-3A77-79F6FDB96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Live Demo</a:t>
            </a:r>
            <a:br>
              <a:rPr lang="en-US" dirty="0"/>
            </a:br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96EA1C6-0EDE-FA97-945E-9CFB2CD666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974" y="1774209"/>
            <a:ext cx="4055151" cy="440275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None/>
            </a:pP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Open application 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Upload lost item 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Browse item list 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View item details 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Contact owner </a:t>
            </a:r>
          </a:p>
        </p:txBody>
      </p:sp>
      <p:pic>
        <p:nvPicPr>
          <p:cNvPr id="6" name="Picture 3" descr="Todo lo que necesitas saber sobre “Android Studio”">
            <a:extLst>
              <a:ext uri="{FF2B5EF4-FFF2-40B4-BE49-F238E27FC236}">
                <a16:creationId xmlns:a16="http://schemas.microsoft.com/office/drawing/2014/main" id="{D7AD05FA-835E-8564-3DAE-84F256549B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39313" y="2276541"/>
            <a:ext cx="6314487" cy="2967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E70DA6F-3787-E7DF-17BA-349FACB3885E}"/>
              </a:ext>
            </a:extLst>
          </p:cNvPr>
          <p:cNvSpPr txBox="1"/>
          <p:nvPr/>
        </p:nvSpPr>
        <p:spPr>
          <a:xfrm>
            <a:off x="8239704" y="1189434"/>
            <a:ext cx="1149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WITH</a:t>
            </a:r>
          </a:p>
        </p:txBody>
      </p:sp>
    </p:spTree>
    <p:extLst>
      <p:ext uri="{BB962C8B-B14F-4D97-AF65-F5344CB8AC3E}">
        <p14:creationId xmlns:p14="http://schemas.microsoft.com/office/powerpoint/2010/main" val="4093007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4405A-7396-ECFF-BC5E-2D888698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914400"/>
          </a:xfrm>
        </p:spPr>
        <p:txBody>
          <a:bodyPr anchor="b">
            <a:normAutofit/>
          </a:bodyPr>
          <a:lstStyle/>
          <a:p>
            <a:r>
              <a:rPr lang="en-US" sz="4000" b="1"/>
              <a:t>Cloud Technologies &amp; Stack</a:t>
            </a:r>
          </a:p>
        </p:txBody>
      </p:sp>
      <p:sp>
        <p:nvSpPr>
          <p:cNvPr id="10" name="C1Bg"/>
          <p:cNvSpPr/>
          <p:nvPr/>
        </p:nvSpPr>
        <p:spPr>
          <a:xfrm>
            <a:off x="596000" y="1500000"/>
            <a:ext cx="3400000" cy="1800000"/>
          </a:xfrm>
          <a:prstGeom prst="roundRect">
            <a:avLst>
              <a:gd name="adj" fmla="val 6000"/>
            </a:avLst>
          </a:prstGeom>
          <a:solidFill>
            <a:srgbClr val="F5F2F9"/>
          </a:solidFill>
          <a:ln>
            <a:noFill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C1Icon"/>
          <p:cNvSpPr/>
          <p:nvPr/>
        </p:nvSpPr>
        <p:spPr>
          <a:xfrm>
            <a:off x="896000" y="1700000"/>
            <a:ext cx="700000" cy="700000"/>
          </a:xfrm>
          <a:prstGeom prst="roundRect">
            <a:avLst>
              <a:gd name="adj" fmla="val 16667"/>
            </a:avLst>
          </a:prstGeom>
          <a:solidFill>
            <a:srgbClr val="25C8A2"/>
          </a:solidFill>
          <a:ln>
            <a:noFill/>
          </a:ln>
        </p:spPr>
        <p:txBody>
          <a:bodyPr lIns="0" tIns="0" rIns="0" bIns="0" anchor="ctr" anchorCtr="1"/>
          <a:lstStyle/>
          <a:p>
            <a:pPr algn="ctr"/>
            <a:r>
              <a:rPr lang="en-US" sz="3200" b="1">
                <a:solidFill>
                  <a:srgbClr val="FFFFFF"/>
                </a:solidFill>
                <a:latin typeface="Segoe UI Emoji"/>
              </a:rPr>
              <a:t>📱</a:t>
            </a:r>
          </a:p>
        </p:txBody>
      </p:sp>
      <p:sp>
        <p:nvSpPr>
          <p:cNvPr id="12" name="C1Title"/>
          <p:cNvSpPr txBox="1"/>
          <p:nvPr/>
        </p:nvSpPr>
        <p:spPr>
          <a:xfrm>
            <a:off x="1796000" y="1700000"/>
            <a:ext cx="2000000" cy="3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en-US" sz="2000" b="1">
                <a:solidFill>
                  <a:srgbClr val="0D1C3B"/>
                </a:solidFill>
              </a:rPr>
              <a:t>Android Studio</a:t>
            </a:r>
          </a:p>
        </p:txBody>
      </p:sp>
      <p:sp>
        <p:nvSpPr>
          <p:cNvPr id="13" name="C1Desc"/>
          <p:cNvSpPr txBox="1"/>
          <p:nvPr/>
        </p:nvSpPr>
        <p:spPr>
          <a:xfrm>
            <a:off x="1796000" y="2050000"/>
            <a:ext cx="20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400">
                <a:solidFill>
                  <a:srgbClr val="666666"/>
                </a:solidFill>
              </a:rPr>
              <a:t>Development IDE</a:t>
            </a:r>
          </a:p>
        </p:txBody>
      </p:sp>
      <p:sp>
        <p:nvSpPr>
          <p:cNvPr id="20" name="C2Bg"/>
          <p:cNvSpPr/>
          <p:nvPr/>
        </p:nvSpPr>
        <p:spPr>
          <a:xfrm>
            <a:off x="4396000" y="1500000"/>
            <a:ext cx="3400000" cy="1800000"/>
          </a:xfrm>
          <a:prstGeom prst="roundRect">
            <a:avLst>
              <a:gd name="adj" fmla="val 6000"/>
            </a:avLst>
          </a:prstGeom>
          <a:solidFill>
            <a:srgbClr val="F5F2F9"/>
          </a:solidFill>
          <a:ln>
            <a:noFill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C2Icon"/>
          <p:cNvSpPr/>
          <p:nvPr/>
        </p:nvSpPr>
        <p:spPr>
          <a:xfrm>
            <a:off x="4696000" y="1700000"/>
            <a:ext cx="700000" cy="700000"/>
          </a:xfrm>
          <a:prstGeom prst="roundRect">
            <a:avLst>
              <a:gd name="adj" fmla="val 16667"/>
            </a:avLst>
          </a:prstGeom>
          <a:solidFill>
            <a:srgbClr val="1973EB"/>
          </a:solidFill>
          <a:ln>
            <a:noFill/>
          </a:ln>
        </p:spPr>
        <p:txBody>
          <a:bodyPr lIns="0" tIns="0" rIns="0" bIns="0" anchor="ctr" anchorCtr="1"/>
          <a:lstStyle/>
          <a:p>
            <a:pPr algn="ctr"/>
            <a:r>
              <a:rPr lang="en-US" sz="2800" b="1">
                <a:solidFill>
                  <a:srgbClr val="FFFFFF"/>
                </a:solidFill>
                <a:latin typeface="Consolas"/>
              </a:rPr>
              <a:t>{ }</a:t>
            </a:r>
          </a:p>
        </p:txBody>
      </p:sp>
      <p:sp>
        <p:nvSpPr>
          <p:cNvPr id="22" name="C2Title"/>
          <p:cNvSpPr txBox="1"/>
          <p:nvPr/>
        </p:nvSpPr>
        <p:spPr>
          <a:xfrm>
            <a:off x="5596000" y="1700000"/>
            <a:ext cx="2000000" cy="3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en-US" sz="2000" b="1">
                <a:solidFill>
                  <a:srgbClr val="0D1C3B"/>
                </a:solidFill>
              </a:rPr>
              <a:t>Kotlin / Java</a:t>
            </a:r>
          </a:p>
        </p:txBody>
      </p:sp>
      <p:sp>
        <p:nvSpPr>
          <p:cNvPr id="23" name="C2Desc"/>
          <p:cNvSpPr txBox="1"/>
          <p:nvPr/>
        </p:nvSpPr>
        <p:spPr>
          <a:xfrm>
            <a:off x="5596000" y="2050000"/>
            <a:ext cx="20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400">
                <a:solidFill>
                  <a:srgbClr val="666666"/>
                </a:solidFill>
              </a:rPr>
              <a:t>Programming Languages</a:t>
            </a:r>
          </a:p>
        </p:txBody>
      </p:sp>
      <p:sp>
        <p:nvSpPr>
          <p:cNvPr id="30" name="C3Bg"/>
          <p:cNvSpPr/>
          <p:nvPr/>
        </p:nvSpPr>
        <p:spPr>
          <a:xfrm>
            <a:off x="8196000" y="1500000"/>
            <a:ext cx="3400000" cy="1800000"/>
          </a:xfrm>
          <a:prstGeom prst="roundRect">
            <a:avLst>
              <a:gd name="adj" fmla="val 6000"/>
            </a:avLst>
          </a:prstGeom>
          <a:solidFill>
            <a:srgbClr val="F5F2F9"/>
          </a:solidFill>
          <a:ln>
            <a:noFill/>
          </a:ln>
        </p:spPr>
        <p:txBody>
          <a:bodyPr/>
          <a:lstStyle/>
          <a:p>
            <a:endParaRPr lang="en-US" sz="2400"/>
          </a:p>
        </p:txBody>
      </p:sp>
      <p:sp>
        <p:nvSpPr>
          <p:cNvPr id="31" name="C3Icon"/>
          <p:cNvSpPr/>
          <p:nvPr/>
        </p:nvSpPr>
        <p:spPr>
          <a:xfrm>
            <a:off x="8496000" y="1700000"/>
            <a:ext cx="700000" cy="700000"/>
          </a:xfrm>
          <a:prstGeom prst="roundRect">
            <a:avLst>
              <a:gd name="adj" fmla="val 16667"/>
            </a:avLst>
          </a:prstGeom>
          <a:solidFill>
            <a:srgbClr val="FE733C"/>
          </a:solidFill>
          <a:ln>
            <a:noFill/>
          </a:ln>
        </p:spPr>
        <p:txBody>
          <a:bodyPr lIns="0" tIns="0" rIns="0" bIns="0" anchor="ctr" anchorCtr="1"/>
          <a:lstStyle/>
          <a:p>
            <a:pPr algn="ctr"/>
            <a:r>
              <a:rPr lang="en-US" sz="3200" b="1">
                <a:solidFill>
                  <a:srgbClr val="FFFFFF"/>
                </a:solidFill>
                <a:latin typeface="Segoe UI Emoji"/>
              </a:rPr>
              <a:t>🔥</a:t>
            </a:r>
          </a:p>
        </p:txBody>
      </p:sp>
      <p:sp>
        <p:nvSpPr>
          <p:cNvPr id="32" name="C3Title"/>
          <p:cNvSpPr txBox="1"/>
          <p:nvPr/>
        </p:nvSpPr>
        <p:spPr>
          <a:xfrm>
            <a:off x="9396000" y="1700000"/>
            <a:ext cx="2000000" cy="3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en-US" sz="2000" b="1">
                <a:solidFill>
                  <a:srgbClr val="0D1C3B"/>
                </a:solidFill>
              </a:rPr>
              <a:t>Firebase</a:t>
            </a:r>
          </a:p>
        </p:txBody>
      </p:sp>
      <p:sp>
        <p:nvSpPr>
          <p:cNvPr id="33" name="C3Desc"/>
          <p:cNvSpPr txBox="1"/>
          <p:nvPr/>
        </p:nvSpPr>
        <p:spPr>
          <a:xfrm>
            <a:off x="9396000" y="2050000"/>
            <a:ext cx="20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400">
                <a:solidFill>
                  <a:srgbClr val="666666"/>
                </a:solidFill>
              </a:rPr>
              <a:t>Backend &amp; Database</a:t>
            </a:r>
          </a:p>
        </p:txBody>
      </p:sp>
      <p:sp>
        <p:nvSpPr>
          <p:cNvPr id="40" name="C4Bg"/>
          <p:cNvSpPr/>
          <p:nvPr/>
        </p:nvSpPr>
        <p:spPr>
          <a:xfrm>
            <a:off x="596000" y="3650000"/>
            <a:ext cx="3400000" cy="1800000"/>
          </a:xfrm>
          <a:prstGeom prst="roundRect">
            <a:avLst>
              <a:gd name="adj" fmla="val 6000"/>
            </a:avLst>
          </a:prstGeom>
          <a:solidFill>
            <a:srgbClr val="F5F2F9"/>
          </a:solidFill>
          <a:ln>
            <a:noFill/>
          </a:ln>
        </p:spPr>
        <p:txBody>
          <a:bodyPr/>
          <a:lstStyle/>
          <a:p>
            <a:endParaRPr lang="en-US" sz="2400"/>
          </a:p>
        </p:txBody>
      </p:sp>
      <p:sp>
        <p:nvSpPr>
          <p:cNvPr id="41" name="C4Icon"/>
          <p:cNvSpPr/>
          <p:nvPr/>
        </p:nvSpPr>
        <p:spPr>
          <a:xfrm>
            <a:off x="896000" y="3850000"/>
            <a:ext cx="700000" cy="700000"/>
          </a:xfrm>
          <a:prstGeom prst="roundRect">
            <a:avLst>
              <a:gd name="adj" fmla="val 16667"/>
            </a:avLst>
          </a:prstGeom>
          <a:solidFill>
            <a:srgbClr val="BF8ED1"/>
          </a:solidFill>
          <a:ln>
            <a:noFill/>
          </a:ln>
        </p:spPr>
        <p:txBody>
          <a:bodyPr lIns="0" tIns="0" rIns="0" bIns="0" anchor="ctr" anchorCtr="1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Consolas"/>
              </a:rPr>
              <a:t>&lt;/&gt;</a:t>
            </a:r>
          </a:p>
        </p:txBody>
      </p:sp>
      <p:sp>
        <p:nvSpPr>
          <p:cNvPr id="42" name="C4Title"/>
          <p:cNvSpPr txBox="1"/>
          <p:nvPr/>
        </p:nvSpPr>
        <p:spPr>
          <a:xfrm>
            <a:off x="1796000" y="3850000"/>
            <a:ext cx="2000000" cy="3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en-US" sz="2000" b="1">
                <a:solidFill>
                  <a:srgbClr val="0D1C3B"/>
                </a:solidFill>
              </a:rPr>
              <a:t>XML Layout</a:t>
            </a:r>
          </a:p>
        </p:txBody>
      </p:sp>
      <p:sp>
        <p:nvSpPr>
          <p:cNvPr id="43" name="C4Desc"/>
          <p:cNvSpPr txBox="1"/>
          <p:nvPr/>
        </p:nvSpPr>
        <p:spPr>
          <a:xfrm>
            <a:off x="1796000" y="4200000"/>
            <a:ext cx="20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400">
                <a:solidFill>
                  <a:srgbClr val="666666"/>
                </a:solidFill>
              </a:rPr>
              <a:t>UI Design</a:t>
            </a:r>
          </a:p>
        </p:txBody>
      </p:sp>
      <p:sp>
        <p:nvSpPr>
          <p:cNvPr id="50" name="C5Bg"/>
          <p:cNvSpPr/>
          <p:nvPr/>
        </p:nvSpPr>
        <p:spPr>
          <a:xfrm>
            <a:off x="4396000" y="3650000"/>
            <a:ext cx="3400000" cy="1800000"/>
          </a:xfrm>
          <a:prstGeom prst="roundRect">
            <a:avLst>
              <a:gd name="adj" fmla="val 6000"/>
            </a:avLst>
          </a:prstGeom>
          <a:solidFill>
            <a:srgbClr val="F5F2F9"/>
          </a:solidFill>
          <a:ln>
            <a:noFill/>
          </a:ln>
        </p:spPr>
        <p:txBody>
          <a:bodyPr/>
          <a:lstStyle/>
          <a:p>
            <a:endParaRPr lang="en-US" sz="2400"/>
          </a:p>
        </p:txBody>
      </p:sp>
      <p:sp>
        <p:nvSpPr>
          <p:cNvPr id="51" name="C5Icon"/>
          <p:cNvSpPr/>
          <p:nvPr/>
        </p:nvSpPr>
        <p:spPr>
          <a:xfrm>
            <a:off x="4696000" y="3850000"/>
            <a:ext cx="700000" cy="700000"/>
          </a:xfrm>
          <a:prstGeom prst="roundRect">
            <a:avLst>
              <a:gd name="adj" fmla="val 16667"/>
            </a:avLst>
          </a:prstGeom>
          <a:solidFill>
            <a:srgbClr val="1973EB"/>
          </a:solidFill>
          <a:ln>
            <a:noFill/>
          </a:ln>
        </p:spPr>
        <p:txBody>
          <a:bodyPr lIns="0" tIns="0" rIns="0" bIns="0" anchor="ctr" anchorCtr="1"/>
          <a:lstStyle/>
          <a:p>
            <a:pPr algn="ctr"/>
            <a:r>
              <a:rPr lang="en-US" sz="3200" b="1">
                <a:solidFill>
                  <a:srgbClr val="FFFFFF"/>
                </a:solidFill>
                <a:latin typeface="Segoe UI Emoji"/>
              </a:rPr>
              <a:t>📋</a:t>
            </a:r>
          </a:p>
        </p:txBody>
      </p:sp>
      <p:sp>
        <p:nvSpPr>
          <p:cNvPr id="52" name="C5Title"/>
          <p:cNvSpPr txBox="1"/>
          <p:nvPr/>
        </p:nvSpPr>
        <p:spPr>
          <a:xfrm>
            <a:off x="5596000" y="3850000"/>
            <a:ext cx="2000000" cy="3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en-US" sz="2000" b="1">
                <a:solidFill>
                  <a:srgbClr val="0D1C3B"/>
                </a:solidFill>
              </a:rPr>
              <a:t>RecyclerView</a:t>
            </a:r>
          </a:p>
        </p:txBody>
      </p:sp>
      <p:sp>
        <p:nvSpPr>
          <p:cNvPr id="53" name="C5Desc"/>
          <p:cNvSpPr txBox="1"/>
          <p:nvPr/>
        </p:nvSpPr>
        <p:spPr>
          <a:xfrm>
            <a:off x="5596000" y="4200000"/>
            <a:ext cx="20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400">
                <a:solidFill>
                  <a:srgbClr val="666666"/>
                </a:solidFill>
              </a:rPr>
              <a:t>List Component</a:t>
            </a:r>
          </a:p>
        </p:txBody>
      </p:sp>
      <p:sp>
        <p:nvSpPr>
          <p:cNvPr id="60" name="C6Bg"/>
          <p:cNvSpPr/>
          <p:nvPr/>
        </p:nvSpPr>
        <p:spPr>
          <a:xfrm>
            <a:off x="8196000" y="3650000"/>
            <a:ext cx="3400000" cy="1800000"/>
          </a:xfrm>
          <a:prstGeom prst="roundRect">
            <a:avLst>
              <a:gd name="adj" fmla="val 6000"/>
            </a:avLst>
          </a:prstGeom>
          <a:solidFill>
            <a:srgbClr val="F5F2F9"/>
          </a:solidFill>
          <a:ln>
            <a:noFill/>
          </a:ln>
        </p:spPr>
        <p:txBody>
          <a:bodyPr/>
          <a:lstStyle/>
          <a:p>
            <a:endParaRPr lang="en-US" sz="2400"/>
          </a:p>
        </p:txBody>
      </p:sp>
      <p:sp>
        <p:nvSpPr>
          <p:cNvPr id="61" name="C6Icon"/>
          <p:cNvSpPr/>
          <p:nvPr/>
        </p:nvSpPr>
        <p:spPr>
          <a:xfrm>
            <a:off x="8496000" y="3850000"/>
            <a:ext cx="700000" cy="700000"/>
          </a:xfrm>
          <a:prstGeom prst="roundRect">
            <a:avLst>
              <a:gd name="adj" fmla="val 16667"/>
            </a:avLst>
          </a:prstGeom>
          <a:solidFill>
            <a:srgbClr val="FE5A5A"/>
          </a:solidFill>
          <a:ln>
            <a:noFill/>
          </a:ln>
        </p:spPr>
        <p:txBody>
          <a:bodyPr lIns="0" tIns="0" rIns="0" bIns="0" anchor="ctr" anchorCtr="1"/>
          <a:lstStyle/>
          <a:p>
            <a:pPr algn="ctr"/>
            <a:r>
              <a:rPr lang="en-US" sz="3200" b="1">
                <a:solidFill>
                  <a:srgbClr val="FFFFFF"/>
                </a:solidFill>
                <a:latin typeface="Segoe UI Emoji"/>
              </a:rPr>
              <a:t>📷</a:t>
            </a:r>
          </a:p>
        </p:txBody>
      </p:sp>
      <p:sp>
        <p:nvSpPr>
          <p:cNvPr id="62" name="C6Title"/>
          <p:cNvSpPr txBox="1"/>
          <p:nvPr/>
        </p:nvSpPr>
        <p:spPr>
          <a:xfrm>
            <a:off x="9396000" y="3850000"/>
            <a:ext cx="2000000" cy="3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en-US" sz="2000" b="1">
                <a:solidFill>
                  <a:srgbClr val="0D1C3B"/>
                </a:solidFill>
              </a:rPr>
              <a:t>Image Upload</a:t>
            </a:r>
          </a:p>
        </p:txBody>
      </p:sp>
      <p:sp>
        <p:nvSpPr>
          <p:cNvPr id="63" name="C6Desc"/>
          <p:cNvSpPr txBox="1"/>
          <p:nvPr/>
        </p:nvSpPr>
        <p:spPr>
          <a:xfrm>
            <a:off x="9396000" y="4200000"/>
            <a:ext cx="20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400">
                <a:solidFill>
                  <a:srgbClr val="666666"/>
                </a:solidFill>
              </a:rPr>
              <a:t>Media Handling</a:t>
            </a:r>
          </a:p>
        </p:txBody>
      </p:sp>
    </p:spTree>
    <p:extLst>
      <p:ext uri="{BB962C8B-B14F-4D97-AF65-F5344CB8AC3E}">
        <p14:creationId xmlns:p14="http://schemas.microsoft.com/office/powerpoint/2010/main" val="3710495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/>
      <p:bldP spid="13" grpId="0"/>
      <p:bldP spid="20" grpId="0" animBg="1"/>
      <p:bldP spid="21" grpId="0" animBg="1"/>
      <p:bldP spid="22" grpId="0"/>
      <p:bldP spid="23" grpId="0"/>
      <p:bldP spid="30" grpId="0" animBg="1"/>
      <p:bldP spid="31" grpId="0" animBg="1"/>
      <p:bldP spid="32" grpId="0"/>
      <p:bldP spid="33" grpId="0"/>
      <p:bldP spid="40" grpId="0" animBg="1"/>
      <p:bldP spid="41" grpId="0" animBg="1"/>
      <p:bldP spid="42" grpId="0"/>
      <p:bldP spid="43" grpId="0"/>
      <p:bldP spid="50" grpId="0" animBg="1"/>
      <p:bldP spid="51" grpId="0" animBg="1"/>
      <p:bldP spid="52" grpId="0"/>
      <p:bldP spid="53" grpId="0"/>
      <p:bldP spid="60" grpId="0" animBg="1"/>
      <p:bldP spid="61" grpId="0" animBg="1"/>
      <p:bldP spid="62" grpId="0"/>
      <p:bldP spid="6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CDEC9-DE9F-A3BF-D960-A65257D71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385" y="182284"/>
            <a:ext cx="10890929" cy="1097280"/>
          </a:xfrm>
        </p:spPr>
        <p:txBody>
          <a:bodyPr/>
          <a:lstStyle/>
          <a:p>
            <a:r>
              <a:rPr lang="en-US" dirty="0"/>
              <a:t>Future Improvements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F17B1534-FE8A-35D3-D9E8-1F73AA2A81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2968375"/>
              </p:ext>
            </p:extLst>
          </p:nvPr>
        </p:nvGraphicFramePr>
        <p:xfrm>
          <a:off x="418951" y="1820672"/>
          <a:ext cx="10890928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83830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3CC45-DC0A-A00D-25DE-E05426758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316" y="501856"/>
            <a:ext cx="4265763" cy="1441776"/>
          </a:xfrm>
        </p:spPr>
        <p:txBody>
          <a:bodyPr anchor="t">
            <a:normAutofit fontScale="90000"/>
          </a:bodyPr>
          <a:lstStyle/>
          <a:p>
            <a:r>
              <a:rPr lang="en-US" dirty="0"/>
              <a:t>Conclusion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FCBAE-8FFC-6652-581A-F145EB7E8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634" y="2769886"/>
            <a:ext cx="10219960" cy="3445399"/>
          </a:xfrm>
        </p:spPr>
        <p:txBody>
          <a:bodyPr>
            <a:normAutofit/>
          </a:bodyPr>
          <a:lstStyle/>
          <a:p>
            <a:r>
              <a:rPr lang="en-US" dirty="0"/>
              <a:t>Delivered a resilient multi-tier cloud platform with native Android APK and Web SPA.</a:t>
            </a:r>
          </a:p>
          <a:p>
            <a:endParaRPr lang="en-US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F5D2C1E6-93DA-AE05-2DA8-E82BFCD967F0}"/>
              </a:ext>
            </a:extLst>
          </p:cNvPr>
          <p:cNvSpPr/>
          <p:nvPr/>
        </p:nvSpPr>
        <p:spPr>
          <a:xfrm>
            <a:off x="0" y="0"/>
            <a:ext cx="12192000" cy="6858686"/>
          </a:xfrm>
          <a:custGeom>
            <a:avLst/>
            <a:gdLst>
              <a:gd name="connsiteX0" fmla="*/ 3518716 w 5872118"/>
              <a:gd name="connsiteY0" fmla="*/ 749110 h 3303397"/>
              <a:gd name="connsiteX1" fmla="*/ 3550743 w 5872118"/>
              <a:gd name="connsiteY1" fmla="*/ 859117 h 3303397"/>
              <a:gd name="connsiteX2" fmla="*/ 3597183 w 5872118"/>
              <a:gd name="connsiteY2" fmla="*/ 969193 h 3303397"/>
              <a:gd name="connsiteX3" fmla="*/ 3762471 w 5872118"/>
              <a:gd name="connsiteY3" fmla="*/ 1134481 h 3303397"/>
              <a:gd name="connsiteX4" fmla="*/ 3872547 w 5872118"/>
              <a:gd name="connsiteY4" fmla="*/ 1180920 h 3303397"/>
              <a:gd name="connsiteX5" fmla="*/ 4117485 w 5872118"/>
              <a:gd name="connsiteY5" fmla="*/ 1180920 h 3303397"/>
              <a:gd name="connsiteX6" fmla="*/ 4737629 w 5872118"/>
              <a:gd name="connsiteY6" fmla="*/ 1019810 h 3303397"/>
              <a:gd name="connsiteX7" fmla="*/ 4842066 w 5872118"/>
              <a:gd name="connsiteY7" fmla="*/ 999828 h 3303397"/>
              <a:gd name="connsiteX8" fmla="*/ 4986468 w 5872118"/>
              <a:gd name="connsiteY8" fmla="*/ 995163 h 3303397"/>
              <a:gd name="connsiteX9" fmla="*/ 4959523 w 5872118"/>
              <a:gd name="connsiteY9" fmla="*/ 1177370 h 3303397"/>
              <a:gd name="connsiteX10" fmla="*/ 4999139 w 5872118"/>
              <a:gd name="connsiteY10" fmla="*/ 1354842 h 3303397"/>
              <a:gd name="connsiteX11" fmla="*/ 5242824 w 5872118"/>
              <a:gd name="connsiteY11" fmla="*/ 1598527 h 3303397"/>
              <a:gd name="connsiteX12" fmla="*/ 5420366 w 5872118"/>
              <a:gd name="connsiteY12" fmla="*/ 1638144 h 3303397"/>
              <a:gd name="connsiteX13" fmla="*/ 5466179 w 5872118"/>
              <a:gd name="connsiteY13" fmla="*/ 1632017 h 3303397"/>
              <a:gd name="connsiteX14" fmla="*/ 5466179 w 5872118"/>
              <a:gd name="connsiteY14" fmla="*/ 1647961 h 3303397"/>
              <a:gd name="connsiteX15" fmla="*/ 4882239 w 5872118"/>
              <a:gd name="connsiteY15" fmla="*/ 3303419 h 3303397"/>
              <a:gd name="connsiteX16" fmla="*/ -935 w 5872118"/>
              <a:gd name="connsiteY16" fmla="*/ 3303419 h 3303397"/>
              <a:gd name="connsiteX17" fmla="*/ -935 w 5872118"/>
              <a:gd name="connsiteY17" fmla="*/ 22 h 3303397"/>
              <a:gd name="connsiteX18" fmla="*/ 5871184 w 5872118"/>
              <a:gd name="connsiteY18" fmla="*/ 22 h 3303397"/>
              <a:gd name="connsiteX19" fmla="*/ 5871184 w 5872118"/>
              <a:gd name="connsiteY19" fmla="*/ 1086162 h 3303397"/>
              <a:gd name="connsiteX20" fmla="*/ 3518716 w 5872118"/>
              <a:gd name="connsiteY20" fmla="*/ 749110 h 3303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5872118" h="3303397">
                <a:moveTo>
                  <a:pt x="3518716" y="749110"/>
                </a:moveTo>
                <a:cubicBezTo>
                  <a:pt x="3519621" y="781834"/>
                  <a:pt x="3540439" y="826393"/>
                  <a:pt x="3550743" y="859117"/>
                </a:cubicBezTo>
                <a:cubicBezTo>
                  <a:pt x="3566199" y="895788"/>
                  <a:pt x="3581657" y="932480"/>
                  <a:pt x="3597183" y="969193"/>
                </a:cubicBezTo>
                <a:cubicBezTo>
                  <a:pt x="3637217" y="1037543"/>
                  <a:pt x="3694100" y="1094461"/>
                  <a:pt x="3762471" y="1134481"/>
                </a:cubicBezTo>
                <a:lnTo>
                  <a:pt x="3872547" y="1180920"/>
                </a:lnTo>
                <a:cubicBezTo>
                  <a:pt x="3952684" y="1202922"/>
                  <a:pt x="4037348" y="1202922"/>
                  <a:pt x="4117485" y="1180920"/>
                </a:cubicBezTo>
                <a:cubicBezTo>
                  <a:pt x="4323713" y="1125221"/>
                  <a:pt x="4528269" y="1063395"/>
                  <a:pt x="4737629" y="1019810"/>
                </a:cubicBezTo>
                <a:cubicBezTo>
                  <a:pt x="4772442" y="1012847"/>
                  <a:pt x="4807254" y="1005885"/>
                  <a:pt x="4842066" y="999828"/>
                </a:cubicBezTo>
                <a:cubicBezTo>
                  <a:pt x="4890037" y="995142"/>
                  <a:pt x="4938287" y="993582"/>
                  <a:pt x="4986468" y="995163"/>
                </a:cubicBezTo>
                <a:cubicBezTo>
                  <a:pt x="4973865" y="1055311"/>
                  <a:pt x="4964883" y="1116156"/>
                  <a:pt x="4959523" y="1177370"/>
                </a:cubicBezTo>
                <a:cubicBezTo>
                  <a:pt x="4956738" y="1238994"/>
                  <a:pt x="4970384" y="1300257"/>
                  <a:pt x="4999139" y="1354842"/>
                </a:cubicBezTo>
                <a:cubicBezTo>
                  <a:pt x="5041123" y="1467599"/>
                  <a:pt x="5130103" y="1556530"/>
                  <a:pt x="5242824" y="1598527"/>
                </a:cubicBezTo>
                <a:cubicBezTo>
                  <a:pt x="5297409" y="1627289"/>
                  <a:pt x="5358749" y="1640964"/>
                  <a:pt x="5420366" y="1638144"/>
                </a:cubicBezTo>
                <a:lnTo>
                  <a:pt x="5466179" y="1632017"/>
                </a:lnTo>
                <a:cubicBezTo>
                  <a:pt x="5466179" y="1637378"/>
                  <a:pt x="5465622" y="1642600"/>
                  <a:pt x="5466179" y="1647961"/>
                </a:cubicBezTo>
                <a:cubicBezTo>
                  <a:pt x="5554950" y="2650552"/>
                  <a:pt x="5202164" y="3101300"/>
                  <a:pt x="4882239" y="3303419"/>
                </a:cubicBezTo>
                <a:lnTo>
                  <a:pt x="-935" y="3303419"/>
                </a:lnTo>
                <a:lnTo>
                  <a:pt x="-935" y="22"/>
                </a:lnTo>
                <a:lnTo>
                  <a:pt x="5871184" y="22"/>
                </a:lnTo>
                <a:lnTo>
                  <a:pt x="5871184" y="1086162"/>
                </a:lnTo>
                <a:cubicBezTo>
                  <a:pt x="4593925" y="115111"/>
                  <a:pt x="3831817" y="510020"/>
                  <a:pt x="3518716" y="74911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69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ADE6C6-CEC0-E6F9-98CF-1C8CE1ADC3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52225" y="642715"/>
            <a:ext cx="5305539" cy="5305539"/>
          </a:xfrm>
          <a:custGeom>
            <a:avLst/>
            <a:gdLst>
              <a:gd name="connsiteX0" fmla="*/ 2486898 w 4973796"/>
              <a:gd name="connsiteY0" fmla="*/ 0 h 4973796"/>
              <a:gd name="connsiteX1" fmla="*/ 4973796 w 4973796"/>
              <a:gd name="connsiteY1" fmla="*/ 2486898 h 4973796"/>
              <a:gd name="connsiteX2" fmla="*/ 2486898 w 4973796"/>
              <a:gd name="connsiteY2" fmla="*/ 4973796 h 4973796"/>
              <a:gd name="connsiteX3" fmla="*/ 0 w 4973796"/>
              <a:gd name="connsiteY3" fmla="*/ 2486898 h 4973796"/>
              <a:gd name="connsiteX4" fmla="*/ 2486898 w 4973796"/>
              <a:gd name="connsiteY4" fmla="*/ 0 h 49737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3796" h="4973796">
                <a:moveTo>
                  <a:pt x="2486898" y="0"/>
                </a:moveTo>
                <a:cubicBezTo>
                  <a:pt x="3860374" y="0"/>
                  <a:pt x="4973796" y="1113422"/>
                  <a:pt x="4973796" y="2486898"/>
                </a:cubicBezTo>
                <a:cubicBezTo>
                  <a:pt x="4973796" y="3860374"/>
                  <a:pt x="3860374" y="4973796"/>
                  <a:pt x="2486898" y="4973796"/>
                </a:cubicBezTo>
                <a:cubicBezTo>
                  <a:pt x="1113422" y="4973796"/>
                  <a:pt x="0" y="3860374"/>
                  <a:pt x="0" y="2486898"/>
                </a:cubicBezTo>
                <a:cubicBezTo>
                  <a:pt x="0" y="1113422"/>
                  <a:pt x="1113422" y="0"/>
                  <a:pt x="2486898" y="0"/>
                </a:cubicBezTo>
                <a:close/>
              </a:path>
            </a:pathLst>
          </a:custGeom>
        </p:spPr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01E4A7B-D6E2-A9F3-E173-3F4B70AB7214}"/>
              </a:ext>
            </a:extLst>
          </p:cNvPr>
          <p:cNvSpPr/>
          <p:nvPr/>
        </p:nvSpPr>
        <p:spPr>
          <a:xfrm>
            <a:off x="10762903" y="2625890"/>
            <a:ext cx="841615" cy="841615"/>
          </a:xfrm>
          <a:custGeom>
            <a:avLst/>
            <a:gdLst>
              <a:gd name="connsiteX0" fmla="*/ 405353 w 405353"/>
              <a:gd name="connsiteY0" fmla="*/ 202677 h 405353"/>
              <a:gd name="connsiteX1" fmla="*/ 202677 w 405353"/>
              <a:gd name="connsiteY1" fmla="*/ 405353 h 405353"/>
              <a:gd name="connsiteX2" fmla="*/ 0 w 405353"/>
              <a:gd name="connsiteY2" fmla="*/ 202677 h 405353"/>
              <a:gd name="connsiteX3" fmla="*/ 202677 w 405353"/>
              <a:gd name="connsiteY3" fmla="*/ 0 h 405353"/>
              <a:gd name="connsiteX4" fmla="*/ 405353 w 405353"/>
              <a:gd name="connsiteY4" fmla="*/ 202677 h 405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5353" h="405353">
                <a:moveTo>
                  <a:pt x="405353" y="202677"/>
                </a:moveTo>
                <a:cubicBezTo>
                  <a:pt x="405353" y="314612"/>
                  <a:pt x="314612" y="405353"/>
                  <a:pt x="202677" y="405353"/>
                </a:cubicBezTo>
                <a:cubicBezTo>
                  <a:pt x="90742" y="405353"/>
                  <a:pt x="0" y="314612"/>
                  <a:pt x="0" y="202677"/>
                </a:cubicBezTo>
                <a:cubicBezTo>
                  <a:pt x="0" y="90742"/>
                  <a:pt x="90742" y="0"/>
                  <a:pt x="202677" y="0"/>
                </a:cubicBezTo>
                <a:cubicBezTo>
                  <a:pt x="314612" y="0"/>
                  <a:pt x="405353" y="90742"/>
                  <a:pt x="405353" y="202677"/>
                </a:cubicBezTo>
                <a:close/>
              </a:path>
            </a:pathLst>
          </a:custGeom>
          <a:solidFill>
            <a:schemeClr val="accent4"/>
          </a:solidFill>
          <a:ln w="69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83CFC08-E3CC-96BF-757F-9321CD12176B}"/>
              </a:ext>
            </a:extLst>
          </p:cNvPr>
          <p:cNvSpPr/>
          <p:nvPr/>
        </p:nvSpPr>
        <p:spPr>
          <a:xfrm rot="16821599">
            <a:off x="10755636" y="2044598"/>
            <a:ext cx="398688" cy="398688"/>
          </a:xfrm>
          <a:custGeom>
            <a:avLst/>
            <a:gdLst>
              <a:gd name="connsiteX0" fmla="*/ 191089 w 192023"/>
              <a:gd name="connsiteY0" fmla="*/ 96034 h 192023"/>
              <a:gd name="connsiteX1" fmla="*/ 95077 w 192023"/>
              <a:gd name="connsiteY1" fmla="*/ 192046 h 192023"/>
              <a:gd name="connsiteX2" fmla="*/ -936 w 192023"/>
              <a:gd name="connsiteY2" fmla="*/ 96034 h 192023"/>
              <a:gd name="connsiteX3" fmla="*/ 95077 w 192023"/>
              <a:gd name="connsiteY3" fmla="*/ 22 h 192023"/>
              <a:gd name="connsiteX4" fmla="*/ 191089 w 192023"/>
              <a:gd name="connsiteY4" fmla="*/ 96034 h 192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2023" h="192023">
                <a:moveTo>
                  <a:pt x="191089" y="96034"/>
                </a:moveTo>
                <a:cubicBezTo>
                  <a:pt x="191089" y="149060"/>
                  <a:pt x="148103" y="192046"/>
                  <a:pt x="95077" y="192046"/>
                </a:cubicBezTo>
                <a:cubicBezTo>
                  <a:pt x="42051" y="192046"/>
                  <a:pt x="-936" y="149060"/>
                  <a:pt x="-936" y="96034"/>
                </a:cubicBezTo>
                <a:cubicBezTo>
                  <a:pt x="-936" y="43008"/>
                  <a:pt x="42050" y="22"/>
                  <a:pt x="95077" y="22"/>
                </a:cubicBezTo>
                <a:cubicBezTo>
                  <a:pt x="148102" y="22"/>
                  <a:pt x="191089" y="43008"/>
                  <a:pt x="191089" y="96034"/>
                </a:cubicBezTo>
                <a:close/>
              </a:path>
            </a:pathLst>
          </a:custGeom>
          <a:solidFill>
            <a:schemeClr val="accent4"/>
          </a:solidFill>
          <a:ln w="69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0CBC752-C95D-54C9-C81A-3BB9ADB772C9}"/>
              </a:ext>
            </a:extLst>
          </p:cNvPr>
          <p:cNvGrpSpPr/>
          <p:nvPr/>
        </p:nvGrpSpPr>
        <p:grpSpPr>
          <a:xfrm>
            <a:off x="6552225" y="994990"/>
            <a:ext cx="421821" cy="437143"/>
            <a:chOff x="6552225" y="994990"/>
            <a:chExt cx="421821" cy="437143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57755F-FC2E-7C58-AD31-DA3F928C267D}"/>
                </a:ext>
              </a:extLst>
            </p:cNvPr>
            <p:cNvSpPr/>
            <p:nvPr/>
          </p:nvSpPr>
          <p:spPr>
            <a:xfrm>
              <a:off x="6552225" y="1272687"/>
              <a:ext cx="159446" cy="159446"/>
            </a:xfrm>
            <a:custGeom>
              <a:avLst/>
              <a:gdLst>
                <a:gd name="connsiteX0" fmla="*/ 75861 w 76795"/>
                <a:gd name="connsiteY0" fmla="*/ 45626 h 76795"/>
                <a:gd name="connsiteX1" fmla="*/ 45435 w 76795"/>
                <a:gd name="connsiteY1" fmla="*/ 45626 h 76795"/>
                <a:gd name="connsiteX2" fmla="*/ 45435 w 76795"/>
                <a:gd name="connsiteY2" fmla="*/ 76817 h 76795"/>
                <a:gd name="connsiteX3" fmla="*/ 29491 w 76795"/>
                <a:gd name="connsiteY3" fmla="*/ 76817 h 76795"/>
                <a:gd name="connsiteX4" fmla="*/ 29491 w 76795"/>
                <a:gd name="connsiteY4" fmla="*/ 45626 h 76795"/>
                <a:gd name="connsiteX5" fmla="*/ -935 w 76795"/>
                <a:gd name="connsiteY5" fmla="*/ 45626 h 76795"/>
                <a:gd name="connsiteX6" fmla="*/ -935 w 76795"/>
                <a:gd name="connsiteY6" fmla="*/ 31144 h 76795"/>
                <a:gd name="connsiteX7" fmla="*/ 29491 w 76795"/>
                <a:gd name="connsiteY7" fmla="*/ 31144 h 76795"/>
                <a:gd name="connsiteX8" fmla="*/ 29491 w 76795"/>
                <a:gd name="connsiteY8" fmla="*/ 22 h 76795"/>
                <a:gd name="connsiteX9" fmla="*/ 45435 w 76795"/>
                <a:gd name="connsiteY9" fmla="*/ 22 h 76795"/>
                <a:gd name="connsiteX10" fmla="*/ 45435 w 76795"/>
                <a:gd name="connsiteY10" fmla="*/ 31144 h 76795"/>
                <a:gd name="connsiteX11" fmla="*/ 75861 w 76795"/>
                <a:gd name="connsiteY11" fmla="*/ 31144 h 76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6795" h="76795">
                  <a:moveTo>
                    <a:pt x="75861" y="45626"/>
                  </a:moveTo>
                  <a:lnTo>
                    <a:pt x="45435" y="45626"/>
                  </a:lnTo>
                  <a:lnTo>
                    <a:pt x="45435" y="76817"/>
                  </a:lnTo>
                  <a:lnTo>
                    <a:pt x="29491" y="76817"/>
                  </a:lnTo>
                  <a:lnTo>
                    <a:pt x="29491" y="45626"/>
                  </a:lnTo>
                  <a:lnTo>
                    <a:pt x="-935" y="45626"/>
                  </a:lnTo>
                  <a:lnTo>
                    <a:pt x="-935" y="31144"/>
                  </a:lnTo>
                  <a:lnTo>
                    <a:pt x="29491" y="31144"/>
                  </a:lnTo>
                  <a:lnTo>
                    <a:pt x="29491" y="22"/>
                  </a:lnTo>
                  <a:lnTo>
                    <a:pt x="45435" y="22"/>
                  </a:lnTo>
                  <a:lnTo>
                    <a:pt x="45435" y="31144"/>
                  </a:lnTo>
                  <a:lnTo>
                    <a:pt x="75861" y="31144"/>
                  </a:lnTo>
                  <a:close/>
                </a:path>
              </a:pathLst>
            </a:custGeom>
            <a:solidFill>
              <a:srgbClr val="FFFFFF"/>
            </a:solidFill>
            <a:ln w="69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6E53C7B-CFA2-2E9D-E130-1DFBF44B07A5}"/>
                </a:ext>
              </a:extLst>
            </p:cNvPr>
            <p:cNvSpPr/>
            <p:nvPr/>
          </p:nvSpPr>
          <p:spPr>
            <a:xfrm>
              <a:off x="6814743" y="994990"/>
              <a:ext cx="159303" cy="159446"/>
            </a:xfrm>
            <a:custGeom>
              <a:avLst/>
              <a:gdLst>
                <a:gd name="connsiteX0" fmla="*/ 75791 w 76726"/>
                <a:gd name="connsiteY0" fmla="*/ 45695 h 76795"/>
                <a:gd name="connsiteX1" fmla="*/ 45435 w 76726"/>
                <a:gd name="connsiteY1" fmla="*/ 45695 h 76795"/>
                <a:gd name="connsiteX2" fmla="*/ 45435 w 76726"/>
                <a:gd name="connsiteY2" fmla="*/ 76817 h 76795"/>
                <a:gd name="connsiteX3" fmla="*/ 29421 w 76726"/>
                <a:gd name="connsiteY3" fmla="*/ 76817 h 76795"/>
                <a:gd name="connsiteX4" fmla="*/ 29421 w 76726"/>
                <a:gd name="connsiteY4" fmla="*/ 45695 h 76795"/>
                <a:gd name="connsiteX5" fmla="*/ -935 w 76726"/>
                <a:gd name="connsiteY5" fmla="*/ 45695 h 76795"/>
                <a:gd name="connsiteX6" fmla="*/ -935 w 76726"/>
                <a:gd name="connsiteY6" fmla="*/ 31213 h 76795"/>
                <a:gd name="connsiteX7" fmla="*/ 29421 w 76726"/>
                <a:gd name="connsiteY7" fmla="*/ 31213 h 76795"/>
                <a:gd name="connsiteX8" fmla="*/ 29421 w 76726"/>
                <a:gd name="connsiteY8" fmla="*/ 22 h 76795"/>
                <a:gd name="connsiteX9" fmla="*/ 45435 w 76726"/>
                <a:gd name="connsiteY9" fmla="*/ 22 h 76795"/>
                <a:gd name="connsiteX10" fmla="*/ 45435 w 76726"/>
                <a:gd name="connsiteY10" fmla="*/ 31213 h 76795"/>
                <a:gd name="connsiteX11" fmla="*/ 75791 w 76726"/>
                <a:gd name="connsiteY11" fmla="*/ 31213 h 76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6726" h="76795">
                  <a:moveTo>
                    <a:pt x="75791" y="45695"/>
                  </a:moveTo>
                  <a:lnTo>
                    <a:pt x="45435" y="45695"/>
                  </a:lnTo>
                  <a:lnTo>
                    <a:pt x="45435" y="76817"/>
                  </a:lnTo>
                  <a:lnTo>
                    <a:pt x="29421" y="76817"/>
                  </a:lnTo>
                  <a:lnTo>
                    <a:pt x="29421" y="45695"/>
                  </a:lnTo>
                  <a:lnTo>
                    <a:pt x="-935" y="45695"/>
                  </a:lnTo>
                  <a:lnTo>
                    <a:pt x="-935" y="31213"/>
                  </a:lnTo>
                  <a:lnTo>
                    <a:pt x="29421" y="31213"/>
                  </a:lnTo>
                  <a:lnTo>
                    <a:pt x="29421" y="22"/>
                  </a:lnTo>
                  <a:lnTo>
                    <a:pt x="45435" y="22"/>
                  </a:lnTo>
                  <a:lnTo>
                    <a:pt x="45435" y="31213"/>
                  </a:lnTo>
                  <a:lnTo>
                    <a:pt x="75791" y="31213"/>
                  </a:lnTo>
                  <a:close/>
                </a:path>
              </a:pathLst>
            </a:custGeom>
            <a:solidFill>
              <a:srgbClr val="FFFFFF"/>
            </a:solidFill>
            <a:ln w="69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5" name="Rectangle 2">
            <a:extLst>
              <a:ext uri="{FF2B5EF4-FFF2-40B4-BE49-F238E27FC236}">
                <a16:creationId xmlns:a16="http://schemas.microsoft.com/office/drawing/2014/main" id="{2968E5FA-F325-DCD3-6B09-E2B43A79D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053138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öhne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8B3F788-32A6-FB3F-5795-369DE72DF727}"/>
              </a:ext>
            </a:extLst>
          </p:cNvPr>
          <p:cNvGrpSpPr/>
          <p:nvPr/>
        </p:nvGrpSpPr>
        <p:grpSpPr>
          <a:xfrm>
            <a:off x="520035" y="1455952"/>
            <a:ext cx="5657850" cy="1867900"/>
            <a:chOff x="386685" y="1247050"/>
            <a:chExt cx="5657850" cy="1867900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4AF323C-3713-E317-93F0-ACE847FA4B72}"/>
                </a:ext>
              </a:extLst>
            </p:cNvPr>
            <p:cNvSpPr txBox="1"/>
            <p:nvPr/>
          </p:nvSpPr>
          <p:spPr>
            <a:xfrm>
              <a:off x="386685" y="2244134"/>
              <a:ext cx="5657850" cy="8708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solidFill>
                    <a:schemeClr val="bg1"/>
                  </a:solidFill>
                </a:rPr>
                <a:t>Delivered a resilient multi-tier cloud platform with native Android APK and Web SPA.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0F2E7AC-C3D3-D52C-7DDE-37EDE65E511D}"/>
                </a:ext>
              </a:extLst>
            </p:cNvPr>
            <p:cNvSpPr txBox="1"/>
            <p:nvPr/>
          </p:nvSpPr>
          <p:spPr>
            <a:xfrm>
              <a:off x="438150" y="1247050"/>
              <a:ext cx="3991981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800" b="1" i="0" dirty="0">
                  <a:solidFill>
                    <a:schemeClr val="bg1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Conclusion </a:t>
              </a:r>
              <a:endParaRPr lang="en-US" sz="4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62D2CF5-2FD7-449A-C345-7179E4B410DD}"/>
              </a:ext>
            </a:extLst>
          </p:cNvPr>
          <p:cNvGrpSpPr/>
          <p:nvPr/>
        </p:nvGrpSpPr>
        <p:grpSpPr>
          <a:xfrm>
            <a:off x="360589" y="509405"/>
            <a:ext cx="421821" cy="437143"/>
            <a:chOff x="6552225" y="994990"/>
            <a:chExt cx="421821" cy="437143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7548E5E-F6AC-0B91-8662-DF0520857C7F}"/>
                </a:ext>
              </a:extLst>
            </p:cNvPr>
            <p:cNvSpPr/>
            <p:nvPr/>
          </p:nvSpPr>
          <p:spPr>
            <a:xfrm>
              <a:off x="6552225" y="1272687"/>
              <a:ext cx="159446" cy="159446"/>
            </a:xfrm>
            <a:custGeom>
              <a:avLst/>
              <a:gdLst>
                <a:gd name="connsiteX0" fmla="*/ 75861 w 76795"/>
                <a:gd name="connsiteY0" fmla="*/ 45626 h 76795"/>
                <a:gd name="connsiteX1" fmla="*/ 45435 w 76795"/>
                <a:gd name="connsiteY1" fmla="*/ 45626 h 76795"/>
                <a:gd name="connsiteX2" fmla="*/ 45435 w 76795"/>
                <a:gd name="connsiteY2" fmla="*/ 76817 h 76795"/>
                <a:gd name="connsiteX3" fmla="*/ 29491 w 76795"/>
                <a:gd name="connsiteY3" fmla="*/ 76817 h 76795"/>
                <a:gd name="connsiteX4" fmla="*/ 29491 w 76795"/>
                <a:gd name="connsiteY4" fmla="*/ 45626 h 76795"/>
                <a:gd name="connsiteX5" fmla="*/ -935 w 76795"/>
                <a:gd name="connsiteY5" fmla="*/ 45626 h 76795"/>
                <a:gd name="connsiteX6" fmla="*/ -935 w 76795"/>
                <a:gd name="connsiteY6" fmla="*/ 31144 h 76795"/>
                <a:gd name="connsiteX7" fmla="*/ 29491 w 76795"/>
                <a:gd name="connsiteY7" fmla="*/ 31144 h 76795"/>
                <a:gd name="connsiteX8" fmla="*/ 29491 w 76795"/>
                <a:gd name="connsiteY8" fmla="*/ 22 h 76795"/>
                <a:gd name="connsiteX9" fmla="*/ 45435 w 76795"/>
                <a:gd name="connsiteY9" fmla="*/ 22 h 76795"/>
                <a:gd name="connsiteX10" fmla="*/ 45435 w 76795"/>
                <a:gd name="connsiteY10" fmla="*/ 31144 h 76795"/>
                <a:gd name="connsiteX11" fmla="*/ 75861 w 76795"/>
                <a:gd name="connsiteY11" fmla="*/ 31144 h 76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6795" h="76795">
                  <a:moveTo>
                    <a:pt x="75861" y="45626"/>
                  </a:moveTo>
                  <a:lnTo>
                    <a:pt x="45435" y="45626"/>
                  </a:lnTo>
                  <a:lnTo>
                    <a:pt x="45435" y="76817"/>
                  </a:lnTo>
                  <a:lnTo>
                    <a:pt x="29491" y="76817"/>
                  </a:lnTo>
                  <a:lnTo>
                    <a:pt x="29491" y="45626"/>
                  </a:lnTo>
                  <a:lnTo>
                    <a:pt x="-935" y="45626"/>
                  </a:lnTo>
                  <a:lnTo>
                    <a:pt x="-935" y="31144"/>
                  </a:lnTo>
                  <a:lnTo>
                    <a:pt x="29491" y="31144"/>
                  </a:lnTo>
                  <a:lnTo>
                    <a:pt x="29491" y="22"/>
                  </a:lnTo>
                  <a:lnTo>
                    <a:pt x="45435" y="22"/>
                  </a:lnTo>
                  <a:lnTo>
                    <a:pt x="45435" y="31144"/>
                  </a:lnTo>
                  <a:lnTo>
                    <a:pt x="75861" y="31144"/>
                  </a:lnTo>
                  <a:close/>
                </a:path>
              </a:pathLst>
            </a:custGeom>
            <a:solidFill>
              <a:srgbClr val="FFFFFF"/>
            </a:solidFill>
            <a:ln w="69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4976620-E898-1250-C4CB-2194A2D06B43}"/>
                </a:ext>
              </a:extLst>
            </p:cNvPr>
            <p:cNvSpPr/>
            <p:nvPr/>
          </p:nvSpPr>
          <p:spPr>
            <a:xfrm>
              <a:off x="6814743" y="994990"/>
              <a:ext cx="159303" cy="159446"/>
            </a:xfrm>
            <a:custGeom>
              <a:avLst/>
              <a:gdLst>
                <a:gd name="connsiteX0" fmla="*/ 75791 w 76726"/>
                <a:gd name="connsiteY0" fmla="*/ 45695 h 76795"/>
                <a:gd name="connsiteX1" fmla="*/ 45435 w 76726"/>
                <a:gd name="connsiteY1" fmla="*/ 45695 h 76795"/>
                <a:gd name="connsiteX2" fmla="*/ 45435 w 76726"/>
                <a:gd name="connsiteY2" fmla="*/ 76817 h 76795"/>
                <a:gd name="connsiteX3" fmla="*/ 29421 w 76726"/>
                <a:gd name="connsiteY3" fmla="*/ 76817 h 76795"/>
                <a:gd name="connsiteX4" fmla="*/ 29421 w 76726"/>
                <a:gd name="connsiteY4" fmla="*/ 45695 h 76795"/>
                <a:gd name="connsiteX5" fmla="*/ -935 w 76726"/>
                <a:gd name="connsiteY5" fmla="*/ 45695 h 76795"/>
                <a:gd name="connsiteX6" fmla="*/ -935 w 76726"/>
                <a:gd name="connsiteY6" fmla="*/ 31213 h 76795"/>
                <a:gd name="connsiteX7" fmla="*/ 29421 w 76726"/>
                <a:gd name="connsiteY7" fmla="*/ 31213 h 76795"/>
                <a:gd name="connsiteX8" fmla="*/ 29421 w 76726"/>
                <a:gd name="connsiteY8" fmla="*/ 22 h 76795"/>
                <a:gd name="connsiteX9" fmla="*/ 45435 w 76726"/>
                <a:gd name="connsiteY9" fmla="*/ 22 h 76795"/>
                <a:gd name="connsiteX10" fmla="*/ 45435 w 76726"/>
                <a:gd name="connsiteY10" fmla="*/ 31213 h 76795"/>
                <a:gd name="connsiteX11" fmla="*/ 75791 w 76726"/>
                <a:gd name="connsiteY11" fmla="*/ 31213 h 76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6726" h="76795">
                  <a:moveTo>
                    <a:pt x="75791" y="45695"/>
                  </a:moveTo>
                  <a:lnTo>
                    <a:pt x="45435" y="45695"/>
                  </a:lnTo>
                  <a:lnTo>
                    <a:pt x="45435" y="76817"/>
                  </a:lnTo>
                  <a:lnTo>
                    <a:pt x="29421" y="76817"/>
                  </a:lnTo>
                  <a:lnTo>
                    <a:pt x="29421" y="45695"/>
                  </a:lnTo>
                  <a:lnTo>
                    <a:pt x="-935" y="45695"/>
                  </a:lnTo>
                  <a:lnTo>
                    <a:pt x="-935" y="31213"/>
                  </a:lnTo>
                  <a:lnTo>
                    <a:pt x="29421" y="31213"/>
                  </a:lnTo>
                  <a:lnTo>
                    <a:pt x="29421" y="22"/>
                  </a:lnTo>
                  <a:lnTo>
                    <a:pt x="45435" y="22"/>
                  </a:lnTo>
                  <a:lnTo>
                    <a:pt x="45435" y="31213"/>
                  </a:lnTo>
                  <a:lnTo>
                    <a:pt x="75791" y="31213"/>
                  </a:lnTo>
                  <a:close/>
                </a:path>
              </a:pathLst>
            </a:custGeom>
            <a:solidFill>
              <a:srgbClr val="FFFFFF"/>
            </a:solidFill>
            <a:ln w="69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51889814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221B48B-B4D1-4849-8292-896B402D8143}">
  <we:reference id="WA104380518" version="3.7.0.0" store="Omex" storeType="OMEX"/>
  <we:alternateReferences>
    <we:reference id="WA104380518" version="3.7.0.0" store="WA104380518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217</TotalTime>
  <Words>294</Words>
  <Application>Microsoft Office PowerPoint</Application>
  <PresentationFormat>Widescreen</PresentationFormat>
  <Paragraphs>99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Söhne</vt:lpstr>
      <vt:lpstr>Aptos</vt:lpstr>
      <vt:lpstr>Arial</vt:lpstr>
      <vt:lpstr>Consolas</vt:lpstr>
      <vt:lpstr>Corbel</vt:lpstr>
      <vt:lpstr>Segoe UI</vt:lpstr>
      <vt:lpstr>Segoe UI Emoji</vt:lpstr>
      <vt:lpstr>Depth</vt:lpstr>
      <vt:lpstr>Lost &amp; Found  Campus App</vt:lpstr>
      <vt:lpstr>What is this app?</vt:lpstr>
      <vt:lpstr>Problem</vt:lpstr>
      <vt:lpstr>Solution</vt:lpstr>
      <vt:lpstr>Main Features</vt:lpstr>
      <vt:lpstr>PowerPoint Presentation</vt:lpstr>
      <vt:lpstr>Application Flow</vt:lpstr>
      <vt:lpstr>Live Demo </vt:lpstr>
      <vt:lpstr>Technologies Used</vt:lpstr>
      <vt:lpstr>Future Improvements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KHASANOV SAYFILLO</dc:creator>
  <cp:lastModifiedBy>KHASANOV SAYFILLO</cp:lastModifiedBy>
  <cp:revision>3</cp:revision>
  <dcterms:created xsi:type="dcterms:W3CDTF">2026-05-18T12:17:22Z</dcterms:created>
  <dcterms:modified xsi:type="dcterms:W3CDTF">2026-05-18T15:55:18Z</dcterms:modified>
</cp:coreProperties>
</file>